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6072" y="448056"/>
            <a:ext cx="128016" cy="12801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StaySmart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06173" cy="384048"/>
          </a:xfrm>
          <a:prstGeom prst="roundRect">
            <a:avLst>
              <a:gd name="adj" fmla="val 50000"/>
            </a:avLst>
          </a:prstGeom>
          <a:solidFill>
            <a:srgbClr val="26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bIns="0" rtlCol="0" anchor="ctr"/>
          <a:lstStyle/>
          <a:p>
            <a:pPr algn="l"/>
            <a:r>
              <a:rPr sz="1200" b="1" i="0" spc="110">
                <a:solidFill>
                  <a:srgbClr val="FFB4C2"/>
                </a:solidFill>
                <a:latin typeface="Segoe UI Semibold"/>
              </a:rPr>
              <a:t>JAVA PROGRAMMING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Segoe UI Semibold"/>
              </a:rPr>
              <a:t>StaySmart</a:t>
            </a:r>
            <a:r>
              <a:rPr sz="5400" b="1" i="0">
                <a:solidFill>
                  <a:srgbClr val="E11D48"/>
                </a:solidFill>
                <a:latin typeface="Segoe UI Semibold"/>
              </a:rPr>
              <a:t>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1DD"/>
                </a:solidFill>
                <a:latin typeface="Segoe UI"/>
              </a:rPr>
              <a:t>An AI-Powered Vacation Rental Platform — inspired by Airbnb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858768"/>
            <a:ext cx="3840480" cy="0"/>
          </a:xfrm>
          <a:prstGeom prst="line">
            <a:avLst/>
          </a:prstGeom>
          <a:ln w="28575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09651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939CAD"/>
                </a:solidFill>
                <a:latin typeface="Segoe UI Semibold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7083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[Team Member Names]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09651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939CAD"/>
                </a:solidFill>
                <a:latin typeface="Segoe UI Semibold"/>
              </a:rP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37083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B.Tech IT · 2nd Year · Semester [__]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389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939CAD"/>
                </a:solidFill>
                <a:latin typeface="Segoe UI Semibold"/>
              </a:rPr>
              <a:t>INSTITUTION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132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[College / Institution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1389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939CAD"/>
                </a:solidFill>
                <a:latin typeface="Segoe UI Semibold"/>
              </a:rP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4132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[Faculty Guide Name]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417320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263044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Java 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9448" y="2130552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263044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Spring Boot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843784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263044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React 19 + 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9448" y="3557016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263044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270248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263044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LangChain4j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9CAD"/>
                </a:solidFill>
                <a:latin typeface="Segoe UI"/>
              </a:rPr>
              <a:t>College Mini-Project · Built full-stack with Java, Spring Boot, React &amp; LangChain4j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72386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02 / 15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874519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892807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Problem Statement &amp; Objectives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24712" y="2532887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2920" y="2715767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734055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Technology Stack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24712" y="3374135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2920" y="3557015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75303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System Architecture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4712" y="4215383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2920" y="4398263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4416551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Database Design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24712" y="5056631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2920" y="5239511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5257799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Core Platform Modules</a:t>
            </a:r>
          </a:p>
        </p:txBody>
      </p:sp>
      <p:sp>
        <p:nvSpPr>
          <p:cNvPr id="22" name="Oval 21"/>
          <p:cNvSpPr/>
          <p:nvPr/>
        </p:nvSpPr>
        <p:spPr>
          <a:xfrm>
            <a:off x="6233007" y="1874519"/>
            <a:ext cx="457200" cy="457200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4799" y="1892807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AI-Powered Features (7 modules)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2532887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233007" y="2715767"/>
            <a:ext cx="457200" cy="457200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4799" y="2734055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Live Application Walkthrough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3374135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233007" y="3557015"/>
            <a:ext cx="457200" cy="457200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4799" y="3575303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AI Usage Analytics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0" y="4215383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233007" y="4398263"/>
            <a:ext cx="457200" cy="457200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4799" y="4416551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Security, Testing &amp; Deployment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0" y="5056631"/>
            <a:ext cx="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33007" y="5239511"/>
            <a:ext cx="457200" cy="457200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4799" y="5257799"/>
            <a:ext cx="47699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377680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Problem Statement &amp; 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364327" cy="4434840"/>
          </a:xfrm>
          <a:prstGeom prst="roundRect">
            <a:avLst>
              <a:gd name="adj" fmla="val 45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32888"/>
            <a:ext cx="4815687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Guests manually sift through hundreds of listings with no personalised guidance on what actually fits their trip.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Search stays keyword-only — there's no natural-language way to ask for "a cozy beach house in Goa for 4 under ₹5000".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Hosts write descriptions and judge pricing manually, with no assistant to speed up listing creation.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Itinerary planning and budgeting happen on separate apps, disconnected from the booking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783080"/>
            <a:ext cx="5364327" cy="4434840"/>
          </a:xfrm>
          <a:prstGeom prst="roundRect">
            <a:avLst>
              <a:gd name="adj" fmla="val 4500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2039112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Segoe UI Semibold"/>
              </a:rPr>
              <a:t>Our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7055" y="2532888"/>
            <a:ext cx="4815687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Build a complete Airbnb-style booking platform — auth, listings, search, bookings, reviews — end to end.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Weave 7 practical AI features into the real booking journey with LangChain4j, not as a bolt-on demo.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Keep the platform fully usable without AI: a missing API key degrades gracefully, it never crashes.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475162"/>
                </a:solidFill>
                <a:latin typeface="Segoe UI"/>
              </a:rPr>
              <a:t>Apply production-grade practice for a college project: layered architecture, JWT security, automated tests, Docker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426972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Technology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" cy="5349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83080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Java 21 · Spring Boot 3 · Spring Security · Spring Data JPA · Hibernate · Maven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09444"/>
            <a:ext cx="54864" cy="534924"/>
          </a:xfrm>
          <a:prstGeom prst="rect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409444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09444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PostgreSQL 16 · Flyway migrations (schema + seed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5808"/>
            <a:ext cx="54864" cy="5349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3035808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035808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Stateless JWT (access + rotating refresh) · BCrypt hashing · roles USER / HOST /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62172"/>
            <a:ext cx="54864" cy="534924"/>
          </a:xfrm>
          <a:prstGeom prst="rect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662172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Artificial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662172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LangChain4j · OpenAI (GPT-4o-mini) — pluggable with Gemini / Claude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88536"/>
            <a:ext cx="54864" cy="5349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4288536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288536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React 19 · TypeScript · Vite · Tailwind CSS v4 · React Router · TanStack Query · Axios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14900"/>
            <a:ext cx="54864" cy="534924"/>
          </a:xfrm>
          <a:prstGeom prst="rect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914900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Docs &amp;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914900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springdoc-openapi (Swagger UI) · Markdown + Mermaid diagrams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41264"/>
            <a:ext cx="54864" cy="5349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5541264"/>
            <a:ext cx="2331720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Testing &amp;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541264"/>
            <a:ext cx="8351215" cy="5349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62"/>
                </a:solidFill>
                <a:latin typeface="Segoe UI"/>
              </a:rPr>
              <a:t>JUnit 5 · Mockito · H2 (test scope) · Docker Compose · Nginx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931671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System Architecture — Modular Monolith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One Java package per business capability; every module follows the same internal layering.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847" y="1874519"/>
            <a:ext cx="2286000" cy="566928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52847" y="1874519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React SPA (Frontend)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2441447"/>
            <a:ext cx="0" cy="210313"/>
          </a:xfrm>
          <a:prstGeom prst="line">
            <a:avLst/>
          </a:prstGeom>
          <a:ln w="19050">
            <a:solidFill>
              <a:srgbClr val="47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05575" y="2459735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Segoe UI"/>
              </a:rPr>
              <a:t>REST / JSON  (Axios)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255643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255643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9393" y="2651760"/>
            <a:ext cx="255643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9393" y="2651760"/>
            <a:ext cx="255643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2651760"/>
            <a:ext cx="255643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5867" y="2651760"/>
            <a:ext cx="255643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341" y="2651760"/>
            <a:ext cx="2556433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E7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32341" y="2651760"/>
            <a:ext cx="255643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PostgreSQL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086785" y="2980944"/>
            <a:ext cx="265176" cy="16459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963259" y="2980944"/>
            <a:ext cx="265176" cy="16459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8839733" y="2980944"/>
            <a:ext cx="265176" cy="164592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58444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Segoe UI"/>
              </a:rPr>
              <a:t>6 business modules — user · property · booking · review · ai · admin — each layered exactly this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Cross-Cutting Concerns (wrap every module)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54880"/>
            <a:ext cx="2590723" cy="141732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4901184"/>
            <a:ext cx="22615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674"/>
                </a:solidFill>
                <a:latin typeface="Segoe UI Semibold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230368"/>
            <a:ext cx="22615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JWT issuing / validation, auth filter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7963" y="4754880"/>
            <a:ext cx="2590723" cy="141732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32555" y="4901184"/>
            <a:ext cx="22615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674"/>
                </a:solidFill>
                <a:latin typeface="Segoe UI Semibold"/>
              </a:rPr>
              <a:t>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2555" y="5230368"/>
            <a:ext cx="22615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Spring Security, CORS, OpenAPI, LangChain4j bean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4754880"/>
            <a:ext cx="2590723" cy="141732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7599" y="4901184"/>
            <a:ext cx="22615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674"/>
                </a:solidFill>
                <a:latin typeface="Segoe UI Semibold"/>
              </a:rPr>
              <a:t>exception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7599" y="5230368"/>
            <a:ext cx="22615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Typed exceptions + one global @RestControllerAdvice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051" y="4754880"/>
            <a:ext cx="2590723" cy="141732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62643" y="4901184"/>
            <a:ext cx="22615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674"/>
                </a:solidFill>
                <a:latin typeface="Segoe UI Semibold"/>
              </a:rPr>
              <a:t>common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643" y="5230368"/>
            <a:ext cx="22615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Base entity (audit fields), ApiResponse/PageResponse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393604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PostgreSQL · 12 tables · schema + seed data managed by 4 Flyway migrations.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E7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8288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8288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properties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8288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8288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bookings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4290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4290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97480" y="34290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availability_blocks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228600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E7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ai_usage_logs / ai_chat_messages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" y="18288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E7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18288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18288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97480" y="18288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properties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18288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18288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bookings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34290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34290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reviews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342900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97480" y="342900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availability_blocks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429000"/>
            <a:ext cx="228600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E7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42900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ai_usage_logs / ai_chat_messages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25196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Key design choices: bookings snapshot price/nights at creation time; a half-open availability_blocks range backs both search and booking overlap checks; reviews are gated 1-per-completed-booking with a cached avg_rating on properties.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1828800"/>
            <a:ext cx="4739335" cy="4160520"/>
          </a:xfrm>
          <a:prstGeom prst="roundRect">
            <a:avLst>
              <a:gd name="adj" fmla="val 45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78040" y="2057400"/>
            <a:ext cx="4282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1239"/>
                </a:solidFill>
                <a:latin typeface="Segoe UI Semibold"/>
              </a:rPr>
              <a:t>Users &amp; Auth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322576"/>
            <a:ext cx="42821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users · refresh_tokens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2862072"/>
            <a:ext cx="4282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1239"/>
                </a:solidFill>
                <a:latin typeface="Segoe UI Semibold"/>
              </a:rPr>
              <a:t>Properties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127248"/>
            <a:ext cx="42821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properties · property_images · amenities · property_amenities · availability_blocks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666744"/>
            <a:ext cx="4282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1239"/>
                </a:solidFill>
                <a:latin typeface="Segoe UI Semibold"/>
              </a:rPr>
              <a:t>Bookings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3931920"/>
            <a:ext cx="42821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bookings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471416"/>
            <a:ext cx="4282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1239"/>
                </a:solidFill>
                <a:latin typeface="Segoe UI Semibold"/>
              </a:rPr>
              <a:t>Reviews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736592"/>
            <a:ext cx="42821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reviews · review_images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5276088"/>
            <a:ext cx="4282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1239"/>
                </a:solidFill>
                <a:latin typeface="Segoe UI Semibold"/>
              </a:rPr>
              <a:t>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541264"/>
            <a:ext cx="42821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475162"/>
                </a:solidFill>
                <a:latin typeface="Segoe UI"/>
              </a:rPr>
              <a:t>ai_usage_logs · ai_chat_messages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91287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Core Modules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07 / 15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83080"/>
            <a:ext cx="402336" cy="40233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764792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User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75688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75162"/>
                </a:solidFill>
                <a:latin typeface="Segoe UI"/>
              </a:rPr>
              <a:t>Registration &amp; login, stateless JWT (access + rotating refresh), BCrypt hashing, roles USER / HOST / ADMIN.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816351"/>
            <a:ext cx="402336" cy="40233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798063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Property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108959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75162"/>
                </a:solidFill>
                <a:latin typeface="Segoe UI"/>
              </a:rPr>
              <a:t>CRUD listings, multi-image upload, amenity catalog, location fields, and a per-property availability calendar.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849622"/>
            <a:ext cx="402336" cy="40233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831334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Booking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142230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75162"/>
                </a:solidFill>
                <a:latin typeface="Segoe UI"/>
              </a:rPr>
              <a:t>Filtered search (city, dates, guests, price, type, amenities), instant booking with server-side overlap checks, cancellation.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882893"/>
            <a:ext cx="402336" cy="40233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864605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Review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75501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75162"/>
                </a:solidFill>
                <a:latin typeface="Segoe UI"/>
              </a:rPr>
              <a:t>Star ratings + comments + photos, one review per completed booking, cached average rating kept in sync automatically.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1440" y="2280338"/>
            <a:ext cx="5298135" cy="257164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hom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31138"/>
            <a:ext cx="5196535" cy="24700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312663"/>
            <a:ext cx="5196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Home — search + AI Smart Search bar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211707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Guest Journey — Search &amp; Discover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08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120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earch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7495"/>
            <a:ext cx="5410047" cy="2571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Filtered search (city, price, room type, amenities)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927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operty_detai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37495"/>
            <a:ext cx="5410047" cy="25715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Property details with live booking widget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11185855" cy="658368"/>
          </a:xfrm>
          <a:prstGeom prst="roundRect">
            <a:avLst>
              <a:gd name="adj" fmla="val 12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162"/>
                </a:solidFill>
                <a:latin typeface="Segoe UI"/>
              </a:rPr>
              <a:t>Search reuses the exact same code path whether the filters come from the UI form or from the AI Smart Search bar parsing a natural-language query.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2369262" cy="29260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0E7674"/>
                </a:solidFill>
                <a:latin typeface="Segoe UI Semibold"/>
              </a:rPr>
              <a:t>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7 AI-Powered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Built with LangChain4j; every call is logged for the admin AI usage dashboard.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0E7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09 / 15</a:t>
            </a:r>
          </a:p>
        </p:txBody>
      </p:sp>
      <p:sp>
        <p:nvSpPr>
          <p:cNvPr id="9" name="Oval 8"/>
          <p:cNvSpPr/>
          <p:nvPr/>
        </p:nvSpPr>
        <p:spPr>
          <a:xfrm>
            <a:off x="512064" y="1972818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Property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83080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Builds a candidate pool from top-rated stays and asks the LLM to explain personalised picks.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345436"/>
            <a:ext cx="11185855" cy="0"/>
          </a:xfrm>
          <a:prstGeom prst="line">
            <a:avLst/>
          </a:prstGeom>
          <a:ln w="63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2064" y="2535174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345436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Review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345436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Condenses a property's reviews into overall sentiment, pros, cons and a verdict.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2907792"/>
            <a:ext cx="11185855" cy="0"/>
          </a:xfrm>
          <a:prstGeom prst="line">
            <a:avLst/>
          </a:prstGeom>
          <a:ln w="63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" y="3097530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907792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Chat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907792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Multi-turn concierge widget; conversation history persisted per session.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3470148"/>
            <a:ext cx="11185855" cy="0"/>
          </a:xfrm>
          <a:prstGeom prst="line">
            <a:avLst/>
          </a:prstGeom>
          <a:ln w="63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12064" y="3659886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470148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Trip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70148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Day-by-day itinerary for a destination, dates, party size, interests &amp; budget level.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032504"/>
            <a:ext cx="11185855" cy="0"/>
          </a:xfrm>
          <a:prstGeom prst="line">
            <a:avLst/>
          </a:prstGeom>
          <a:ln w="63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12064" y="4222242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032504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Description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032504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Drafts a listing description from structured property details for hosts.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4594860"/>
            <a:ext cx="11185855" cy="0"/>
          </a:xfrm>
          <a:prstGeom prst="line">
            <a:avLst/>
          </a:prstGeom>
          <a:ln w="63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12064" y="4784598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594860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Budget 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594860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Category-wise trip budget, grounded in the platform's real average nightly price.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5157216"/>
            <a:ext cx="11185855" cy="0"/>
          </a:xfrm>
          <a:prstGeom prst="line">
            <a:avLst/>
          </a:prstGeom>
          <a:ln w="63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12064" y="5346954"/>
            <a:ext cx="146304" cy="146304"/>
          </a:xfrm>
          <a:prstGeom prst="ellipse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157216"/>
            <a:ext cx="28346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Smart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157216"/>
            <a:ext cx="7894015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162"/>
                </a:solidFill>
                <a:latin typeface="Segoe UI"/>
              </a:rPr>
              <a:t>Parses a natural-language query into structured filters for the regular search.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8293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Segoe UI"/>
              </a:rPr>
              <a:t>No OPENAI_API_KEY configured? AI endpoints return a clean “not configured” error — the rest of the platform stays fully usable.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211707" cy="29260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0E7674"/>
                </a:solidFill>
                <a:latin typeface="Segoe UI Semi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AI in Action — Recommendations &amp; Reviews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0E7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120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ome_ai_re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7495"/>
            <a:ext cx="5410047" cy="2571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Personalised “Recommended for you” picks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927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i_review_summ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37495"/>
            <a:ext cx="5410047" cy="25715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AI review summary: overall / pros / cons / verdict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11185855" cy="658368"/>
          </a:xfrm>
          <a:prstGeom prst="roundRect">
            <a:avLst>
              <a:gd name="adj" fmla="val 12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162"/>
                </a:solidFill>
                <a:latin typeface="Segoe UI"/>
              </a:rPr>
              <a:t>Both screenshots are live model output captured from the running app — not mockups — generated by GPT-4o-mini via LangChain4j.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211707" cy="29260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0E7674"/>
                </a:solidFill>
                <a:latin typeface="Segoe UI Semi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AI in Action — Chat &amp; Trip Planning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0E7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120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i_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7495"/>
            <a:ext cx="5410047" cy="2571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Floating AI chat assistant (multi-turn)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927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i_trip_pla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37495"/>
            <a:ext cx="5410047" cy="25715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AI-generated day-by-day trip itinerary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11185855" cy="658368"/>
          </a:xfrm>
          <a:prstGeom prst="roundRect">
            <a:avLst>
              <a:gd name="adj" fmla="val 12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162"/>
                </a:solidFill>
                <a:latin typeface="Segoe UI"/>
              </a:rPr>
              <a:t>The chat widget and trip planner both call the same underlying ChatLanguageModel bean, configured once in the config module and reused across every AI feature.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211707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Host &amp; Admin Experience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120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ost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7495"/>
            <a:ext cx="5410047" cy="2571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Host Dashboard — manage listings, calendar,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927" y="1886695"/>
            <a:ext cx="5511647" cy="2673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dmin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37495"/>
            <a:ext cx="5410047" cy="25715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4718304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Admin Dashboard — platform-wide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11185855" cy="658368"/>
          </a:xfrm>
          <a:prstGeom prst="roundRect">
            <a:avLst>
              <a:gd name="adj" fmla="val 12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162"/>
                </a:solidFill>
                <a:latin typeface="Segoe UI"/>
              </a:rPr>
              <a:t>The seeded demo dataset spans 242 properties, 13 users across all three roles, and 16 bookings — enough to make every dashboard meaningful out of the 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562762" cy="29260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0E7674"/>
                </a:solidFill>
                <a:latin typeface="Segoe UI Semibold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AI Usage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Every AI call is logged (feature, success/failure, latency) — powering this live admin dashboard.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0E7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7674"/>
                </a:solidFill>
                <a:latin typeface="Segoe UI Semibold"/>
              </a:rPr>
              <a:t>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Total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78308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18562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5803D"/>
                </a:solidFill>
                <a:latin typeface="Segoe UI Semibold"/>
              </a:rPr>
              <a:t>146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1343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Successful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78308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18562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11D48"/>
                </a:solidFill>
                <a:latin typeface="Segoe UI Semibold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31343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2786" y="2829560"/>
            <a:ext cx="6546121" cy="316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dmin_ai_u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586" y="2880360"/>
            <a:ext cx="6444521" cy="3063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5998464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Admin → AI Usage: calls per feature, success rate, avg latency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566037" cy="292608"/>
          </a:xfrm>
          <a:prstGeom prst="roundRect">
            <a:avLst>
              <a:gd name="adj" fmla="val 50000"/>
            </a:avLst>
          </a:prstGeom>
          <a:solidFill>
            <a:srgbClr val="FD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E11D48"/>
                </a:solidFill>
                <a:latin typeface="Segoe UI Semibold"/>
              </a:rPr>
              <a:t>QUALITY &amp;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0885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Security, Testing &amp; Deployment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5855" cy="0"/>
          </a:xfrm>
          <a:prstGeom prst="line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1481328"/>
            <a:ext cx="566928" cy="0"/>
          </a:xfrm>
          <a:prstGeom prst="line">
            <a:avLst/>
          </a:prstGeom>
          <a:ln w="31750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 Semibold"/>
              </a:rPr>
              <a:t>StaySmart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545738" cy="4434840"/>
          </a:xfrm>
          <a:prstGeom prst="roundRect">
            <a:avLst>
              <a:gd name="adj" fmla="val 5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545738" cy="7315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39112"/>
            <a:ext cx="3033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60320"/>
            <a:ext cx="3033674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JWT access + rotating refresh tokens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BCrypt password hashing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Role-based access — USER / HOST / ADMIN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Scoped CORS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1783080"/>
            <a:ext cx="3545738" cy="4434840"/>
          </a:xfrm>
          <a:prstGeom prst="roundRect">
            <a:avLst>
              <a:gd name="adj" fmla="val 5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2978" y="1783080"/>
            <a:ext cx="3545738" cy="73152"/>
          </a:xfrm>
          <a:prstGeom prst="rect">
            <a:avLst/>
          </a:prstGeom>
          <a:solidFill>
            <a:srgbClr val="0E7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9010" y="2039112"/>
            <a:ext cx="3033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9010" y="2560320"/>
            <a:ext cx="3033674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JUnit 5 + Mockito unit tests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H2 in-memory DB for test scope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springdoc-openapi — live Swagger UI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0E7674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Global @RestControllerAdvice error shape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783080"/>
            <a:ext cx="3545738" cy="4434840"/>
          </a:xfrm>
          <a:prstGeom prst="roundRect">
            <a:avLst>
              <a:gd name="adj" fmla="val 5000"/>
            </a:avLst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43036" y="1783080"/>
            <a:ext cx="3545738" cy="7315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9068" y="2039112"/>
            <a:ext cx="3033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11827"/>
                </a:solidFill>
                <a:latin typeface="Segoe UI Semibold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9068" y="2560320"/>
            <a:ext cx="3033674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Docker Compose — Postgres + backend + frontend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Flyway-managed schema migrations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Environment-based config via .env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475162"/>
                </a:solidFill>
                <a:latin typeface="Segoe UI"/>
              </a:rPr>
              <a:t>Nginx serving the built React SPA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1037667" cy="292608"/>
          </a:xfrm>
          <a:prstGeom prst="roundRect">
            <a:avLst>
              <a:gd name="adj" fmla="val 50000"/>
            </a:avLst>
          </a:prstGeom>
          <a:solidFill>
            <a:srgbClr val="26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3736" tIns="0" rIns="173736" bIns="0" rtlCol="0" anchor="ctr"/>
          <a:lstStyle/>
          <a:p>
            <a:pPr algn="ctr"/>
            <a:r>
              <a:rPr sz="1150" b="1" i="0" spc="110">
                <a:solidFill>
                  <a:srgbClr val="FFB4C2"/>
                </a:solidFill>
                <a:latin typeface="Segoe UI Semibold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Future Scope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9CAD"/>
                </a:solidFill>
                <a:latin typeface="Segoe UI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9CAD"/>
                </a:solidFill>
                <a:latin typeface="Segoe UI Semibold"/>
              </a:rPr>
              <a:t>StaySmart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B4C2"/>
                </a:solidFill>
                <a:latin typeface="Segoe UI Semibold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60350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35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50" b="0" i="0">
                <a:solidFill>
                  <a:srgbClr val="C9D1DD"/>
                </a:solidFill>
                <a:latin typeface="Segoe UI"/>
              </a:rPr>
              <a:t>Real payment gateway integration (Razorpay / Stripe) for actual checkout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35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50" b="0" i="0">
                <a:solidFill>
                  <a:srgbClr val="C9D1DD"/>
                </a:solidFill>
                <a:latin typeface="Segoe UI"/>
              </a:rPr>
              <a:t>Wishlist / favourites and real-time booking notifications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35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50" b="0" i="0">
                <a:solidFill>
                  <a:srgbClr val="C9D1DD"/>
                </a:solidFill>
                <a:latin typeface="Segoe UI"/>
              </a:rPr>
              <a:t>Host payouts, multi-currency pricing, and dynamic pricing suggestions from AI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35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50" b="0" i="0">
                <a:solidFill>
                  <a:srgbClr val="C9D1DD"/>
                </a:solidFill>
                <a:latin typeface="Segoe UI"/>
              </a:rPr>
              <a:t>Vector-search-powered recommendations (embeddings over listings &amp; reviews)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350" b="0" i="0">
                <a:solidFill>
                  <a:srgbClr val="E11D48"/>
                </a:solidFill>
                <a:latin typeface="Segoe UI"/>
              </a:rPr>
              <a:t>—  </a:t>
            </a:r>
            <a:r>
              <a:rPr sz="1350" b="0" i="0">
                <a:solidFill>
                  <a:srgbClr val="C9D1DD"/>
                </a:solidFill>
                <a:latin typeface="Segoe UI"/>
              </a:rPr>
              <a:t>Native mobile app (React Native) reusing the same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691640"/>
            <a:ext cx="4785055" cy="4206240"/>
          </a:xfrm>
          <a:prstGeom prst="roundRect">
            <a:avLst>
              <a:gd name="adj" fmla="val 6000"/>
            </a:avLst>
          </a:prstGeom>
          <a:solidFill>
            <a:srgbClr val="26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2011680"/>
            <a:ext cx="41449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68880"/>
            <a:ext cx="414497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D1DD"/>
                </a:solidFill>
                <a:latin typeface="Segoe UI"/>
              </a:rPr>
              <a:t>StaySmart AI shows that a 2nd-year Java course project can carry a real layered architecture, JWT security, automated tests, Docker deployment, and genuinely useful AI — end to end, not just a demo.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23760" y="4206240"/>
            <a:ext cx="4144975" cy="0"/>
          </a:xfrm>
          <a:prstGeom prst="line">
            <a:avLst/>
          </a:prstGeom>
          <a:ln w="12700">
            <a:solidFill>
              <a:srgbClr val="9F12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23760" y="4389120"/>
            <a:ext cx="4144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983480"/>
            <a:ext cx="4144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FFB4C2"/>
                </a:solidFill>
                <a:latin typeface="Segoe UI"/>
              </a:rPr>
              <a:t>Questions &amp; Feedback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440679"/>
            <a:ext cx="4144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9CAD"/>
                </a:solidFill>
                <a:latin typeface="Segoe UI"/>
              </a:rPr>
              <a:t>[Team Email / GitHub Repository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1427</Words>
  <Application>Microsoft Office PowerPoint</Application>
  <PresentationFormat>Widescreen</PresentationFormat>
  <Paragraphs>234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Ramesh R</cp:lastModifiedBy>
  <cp:revision>2</cp:revision>
  <dcterms:created xsi:type="dcterms:W3CDTF">2013-01-27T09:14:16Z</dcterms:created>
  <dcterms:modified xsi:type="dcterms:W3CDTF">2026-08-15T15:49:56Z</dcterms:modified>
  <cp:category/>
</cp:coreProperties>
</file>