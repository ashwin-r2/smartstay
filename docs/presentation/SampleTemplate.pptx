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5372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 ~50 words]
Good morning. My topic is Deadlock - the methods for handling deadlocks, and specifically prevention, avoidance, detection and recovery. A deadlock is a state where a set of processes are each holding a resource and waiting for another resource held by someone else in the same set, so none of them can ever proceed.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 ~110 words]
Here is the classic situation. P1 locks the printer and then asks for the scanner; P2 locks the scanner and then asks for the printer. Each holds what the other needs, so both block forever - that is a deadlock. We draw this as a resource allocation graph, and a cycle in that graph means deadlock when every resource has a single instance.
Coffman showed that four conditions must hold simultaneously: mutual exclusion, because the resource cannot be shared; hold and wait, because a process keeps what it has while asking for more; no preemption, because we cannot forcibly take a resource back; and circular wait, the closed chain of waiting processes. Remove any one condition and deadlock cannot occur.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 ~110 words]
There are four ways to handle deadlocks. Prevention designs the system so a deadlock is structurally impossible. Avoidance allows the conditions but checks every request before granting it. Detection and recovery let the deadlock happen and then repair it. And many general-purpose systems simply ignore the problem and rely on a restart - the so-called ostrich algorithm.
Prevention works by denying one condition. Mutual exclusion can sometimes be removed by spooling. Hold and wait is denied by demanding all resources up front, which wastes capacity. No preemption is denied by taking resources back, which only works when state can be saved. And circular wait is denied by numbering the resources and always requesting them in increasing order - the most practical option.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 ~110 words]
Avoidance takes the middle path. Every process declares its maximum demand in advance, and before granting a request the system asks: will the state still be safe? A state is safe if there is some order in which every process can still get its maximum need and finish.
This is the Banker's algorithm. In this snapshot Need is Max minus Allocation, and three units of A, three of B and two of C are available. P1 needs one, two, two - that fits, so P1 can run and release everything it holds. With those extra units P3 can finish, then P4, then P2, then P0. The safe sequence P1, P3, P4, P2, P0 exists, so the state is safe and the request may be granted. Note that unsafe does not yet mean deadlocked - it only means deadlock becomes possible.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 ~100 words]
The third strategy is detection. We let deadlocks happen and then look for them. When every resource has a single instance we build a wait-for graph: P1 waits for P2, P2 waits for P3, and P3 waits for P1. That cycle means the system is deadlocked.
When a resource has several instances a cycle is not enough, so we run a detection algorithm much like the Banker's safety check over the Available, Allocation and Request matrices; any process that cannot be marked as able to finish is deadlocked.
How often should we run it? Checking after every request is exact but expensive, so systems usually check periodically or when CPU utilisation falls.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 ~110 words]
Once a deadlock is detected we must break the cycle. There are two ways. The first is process termination - either abort every deadlocked process, which works immediately but throws away all their partial work, or abort them one at a time, re-running detection after each until the cycle disappears. The second is resource preemption: choose a victim, take its resources, roll it back to a safe checkpoint and restart it later, making sure the same process is not chosen every time, otherwise it starves.
The victim is chosen to minimise cost - priority, time already spent, resources held and still needed.
To summarise: prevention designs the deadlock out, avoidance decides at run time, detection finds it afterwards, and recovery repairs it. Thank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66928" y="457200"/>
            <a:ext cx="1737360" cy="397764"/>
          </a:xfrm>
          <a:prstGeom prst="rect">
            <a:avLst/>
          </a:prstGeom>
        </p:spPr>
      </p:pic>
      <p:sp>
        <p:nvSpPr>
          <p:cNvPr id="3" name="Shape 0"/>
          <p:cNvSpPr/>
          <p:nvPr/>
        </p:nvSpPr>
        <p:spPr>
          <a:xfrm>
            <a:off x="6446520" y="0"/>
            <a:ext cx="5745175" cy="6858000"/>
          </a:xfrm>
          <a:prstGeom prst="roundRect">
            <a:avLst>
              <a:gd name="adj" fmla="val 318"/>
            </a:avLst>
          </a:prstGeom>
          <a:solidFill>
            <a:srgbClr val="18244F"/>
          </a:solidFill>
          <a:ln w="12700">
            <a:solidFill>
              <a:srgbClr val="18244F"/>
            </a:solidFill>
            <a:prstDash val="solid"/>
          </a:ln>
        </p:spPr>
      </p:sp>
      <p:sp>
        <p:nvSpPr>
          <p:cNvPr id="4" name="Text 1"/>
          <p:cNvSpPr/>
          <p:nvPr/>
        </p:nvSpPr>
        <p:spPr>
          <a:xfrm>
            <a:off x="566928" y="2011680"/>
            <a:ext cx="5486400" cy="1005840"/>
          </a:xfrm>
          <a:prstGeom prst="rect">
            <a:avLst/>
          </a:prstGeom>
          <a:noFill/>
          <a:ln/>
        </p:spPr>
        <p:txBody>
          <a:bodyPr wrap="square" lIns="0" tIns="0" rIns="0" bIns="0" rtlCol="0" anchor="ctr"/>
          <a:lstStyle/>
          <a:p>
            <a:pPr marL="0" indent="0">
              <a:buNone/>
            </a:pPr>
            <a:r>
              <a:rPr lang="en-US" sz="4600" b="1" dirty="0">
                <a:solidFill>
                  <a:srgbClr val="18244F"/>
                </a:solidFill>
                <a:latin typeface="Cambria" pitchFamily="34" charset="0"/>
                <a:ea typeface="Cambria" pitchFamily="34" charset="-122"/>
                <a:cs typeface="Cambria" pitchFamily="34" charset="-120"/>
              </a:rPr>
              <a:t>Deadlock</a:t>
            </a:r>
            <a:endParaRPr lang="en-US" sz="4600" dirty="0"/>
          </a:p>
        </p:txBody>
      </p:sp>
      <p:sp>
        <p:nvSpPr>
          <p:cNvPr id="5" name="Text 2"/>
          <p:cNvSpPr/>
          <p:nvPr/>
        </p:nvSpPr>
        <p:spPr>
          <a:xfrm>
            <a:off x="566928" y="3063240"/>
            <a:ext cx="5486400" cy="457200"/>
          </a:xfrm>
          <a:prstGeom prst="rect">
            <a:avLst/>
          </a:prstGeom>
          <a:noFill/>
          <a:ln/>
        </p:spPr>
        <p:txBody>
          <a:bodyPr wrap="square" lIns="0" tIns="0" rIns="0" bIns="0" rtlCol="0" anchor="ctr"/>
          <a:lstStyle/>
          <a:p>
            <a:pPr marL="0" indent="0">
              <a:buNone/>
            </a:pPr>
            <a:r>
              <a:rPr lang="en-US" sz="1600" i="1" dirty="0">
                <a:solidFill>
                  <a:srgbClr val="1C7293"/>
                </a:solidFill>
                <a:latin typeface="Calibri" pitchFamily="34" charset="0"/>
                <a:ea typeface="Calibri" pitchFamily="34" charset="-122"/>
                <a:cs typeface="Calibri" pitchFamily="34" charset="-120"/>
              </a:rPr>
              <a:t>Handling, Prevention, Avoidance, Detection and Recovery</a:t>
            </a:r>
            <a:endParaRPr lang="en-US" sz="1600" dirty="0"/>
          </a:p>
        </p:txBody>
      </p:sp>
      <p:sp>
        <p:nvSpPr>
          <p:cNvPr id="6" name="Text 3"/>
          <p:cNvSpPr/>
          <p:nvPr/>
        </p:nvSpPr>
        <p:spPr>
          <a:xfrm>
            <a:off x="566928" y="3566160"/>
            <a:ext cx="5486400" cy="310896"/>
          </a:xfrm>
          <a:prstGeom prst="rect">
            <a:avLst/>
          </a:prstGeom>
          <a:noFill/>
          <a:ln/>
        </p:spPr>
        <p:txBody>
          <a:bodyPr wrap="square" lIns="0" tIns="0" rIns="0" bIns="0" rtlCol="0" anchor="ctr"/>
          <a:lstStyle/>
          <a:p>
            <a:pPr marL="0" indent="0">
              <a:buNone/>
            </a:pPr>
            <a:r>
              <a:rPr lang="en-US" sz="1200" dirty="0">
                <a:solidFill>
                  <a:srgbClr val="9AA4B8"/>
                </a:solidFill>
                <a:latin typeface="Calibri" pitchFamily="34" charset="0"/>
                <a:ea typeface="Calibri" pitchFamily="34" charset="-122"/>
                <a:cs typeface="Calibri" pitchFamily="34" charset="-120"/>
              </a:rPr>
              <a:t>When every process waits for a resource that another process holds</a:t>
            </a:r>
            <a:endParaRPr lang="en-US" sz="1200" dirty="0"/>
          </a:p>
        </p:txBody>
      </p:sp>
      <p:sp>
        <p:nvSpPr>
          <p:cNvPr id="7" name="Text 4"/>
          <p:cNvSpPr/>
          <p:nvPr/>
        </p:nvSpPr>
        <p:spPr>
          <a:xfrm>
            <a:off x="566928" y="4572000"/>
            <a:ext cx="5486400" cy="1188720"/>
          </a:xfrm>
          <a:prstGeom prst="rect">
            <a:avLst/>
          </a:prstGeom>
          <a:noFill/>
          <a:ln/>
        </p:spPr>
        <p:txBody>
          <a:bodyPr wrap="square" lIns="0" tIns="0" rIns="0" bIns="0" rtlCol="0" anchor="ctr"/>
          <a:lstStyle/>
          <a:p>
            <a:pPr marL="0" indent="0">
              <a:lnSpc>
                <a:spcPct val="125000"/>
              </a:lnSpc>
              <a:buNone/>
            </a:pPr>
            <a:r>
              <a:rPr lang="en-US" sz="1250" b="1" dirty="0">
                <a:solidFill>
                  <a:srgbClr val="5A6273"/>
                </a:solidFill>
                <a:latin typeface="Calibri" pitchFamily="34" charset="0"/>
                <a:ea typeface="Calibri" pitchFamily="34" charset="-122"/>
                <a:cs typeface="Calibri" pitchFamily="34" charset="-120"/>
              </a:rPr>
              <a:t>Computer Organization and Architecture (IT5301)</a:t>
            </a:r>
            <a:endParaRPr lang="en-US" sz="1250" dirty="0"/>
          </a:p>
          <a:p>
            <a:pPr marL="0" indent="0">
              <a:lnSpc>
                <a:spcPct val="125000"/>
              </a:lnSpc>
              <a:buNone/>
            </a:pPr>
            <a:r>
              <a:rPr lang="en-US" sz="1250" dirty="0">
                <a:solidFill>
                  <a:srgbClr val="5A6273"/>
                </a:solidFill>
                <a:latin typeface="Calibri" pitchFamily="34" charset="0"/>
                <a:ea typeface="Calibri" pitchFamily="34" charset="-122"/>
                <a:cs typeface="Calibri" pitchFamily="34" charset="-120"/>
              </a:rPr>
              <a:t>B.Tech Information Technology</a:t>
            </a:r>
            <a:endParaRPr lang="en-US" sz="1250" dirty="0"/>
          </a:p>
          <a:p>
            <a:pPr marL="0" indent="0">
              <a:lnSpc>
                <a:spcPct val="125000"/>
              </a:lnSpc>
              <a:buNone/>
            </a:pPr>
            <a:r>
              <a:rPr lang="en-US" sz="1250" dirty="0">
                <a:solidFill>
                  <a:srgbClr val="5A6273"/>
                </a:solidFill>
                <a:latin typeface="Calibri" pitchFamily="34" charset="0"/>
                <a:ea typeface="Calibri" pitchFamily="34" charset="-122"/>
                <a:cs typeface="Calibri" pitchFamily="34" charset="-120"/>
              </a:rPr>
              <a:t>Chennai Institute of Technology, Chennai</a:t>
            </a:r>
            <a:endParaRPr lang="en-US" sz="1250" dirty="0"/>
          </a:p>
          <a:p>
            <a:pPr marL="0" indent="0">
              <a:lnSpc>
                <a:spcPct val="125000"/>
              </a:lnSpc>
              <a:buNone/>
            </a:pPr>
            <a:r>
              <a:rPr lang="en-US" sz="1250" dirty="0">
                <a:solidFill>
                  <a:srgbClr val="5A6273"/>
                </a:solidFill>
                <a:latin typeface="Calibri" pitchFamily="34" charset="0"/>
                <a:ea typeface="Calibri" pitchFamily="34" charset="-122"/>
                <a:cs typeface="Calibri" pitchFamily="34" charset="-120"/>
              </a:rPr>
              <a:t>Presented by: Ramesh</a:t>
            </a:r>
            <a:endParaRPr lang="en-US" sz="1250" dirty="0"/>
          </a:p>
        </p:txBody>
      </p:sp>
      <p:sp>
        <p:nvSpPr>
          <p:cNvPr id="8" name="Shape 5"/>
          <p:cNvSpPr/>
          <p:nvPr/>
        </p:nvSpPr>
        <p:spPr>
          <a:xfrm>
            <a:off x="7360920" y="1234440"/>
            <a:ext cx="2057400" cy="713232"/>
          </a:xfrm>
          <a:prstGeom prst="roundRect">
            <a:avLst>
              <a:gd name="adj" fmla="val 10256"/>
            </a:avLst>
          </a:prstGeom>
          <a:solidFill>
            <a:srgbClr val="1C7293"/>
          </a:solidFill>
          <a:ln w="12700">
            <a:solidFill>
              <a:srgbClr val="1C7293"/>
            </a:solidFill>
            <a:prstDash val="solid"/>
          </a:ln>
        </p:spPr>
      </p:sp>
      <p:sp>
        <p:nvSpPr>
          <p:cNvPr id="9" name="Text 6"/>
          <p:cNvSpPr/>
          <p:nvPr/>
        </p:nvSpPr>
        <p:spPr>
          <a:xfrm>
            <a:off x="7360920" y="1280160"/>
            <a:ext cx="2057400" cy="39227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Process P1</a:t>
            </a:r>
            <a:endParaRPr lang="en-US" sz="1300" dirty="0"/>
          </a:p>
        </p:txBody>
      </p:sp>
      <p:sp>
        <p:nvSpPr>
          <p:cNvPr id="10" name="Text 7"/>
          <p:cNvSpPr/>
          <p:nvPr/>
        </p:nvSpPr>
        <p:spPr>
          <a:xfrm>
            <a:off x="7360920" y="1626718"/>
            <a:ext cx="2057400" cy="299557"/>
          </a:xfrm>
          <a:prstGeom prst="rect">
            <a:avLst/>
          </a:prstGeom>
          <a:noFill/>
          <a:ln/>
        </p:spPr>
        <p:txBody>
          <a:bodyPr wrap="square" lIns="0" tIns="0" rIns="0" bIns="0" rtlCol="0" anchor="ctr"/>
          <a:lstStyle/>
          <a:p>
            <a:pPr marL="0" indent="0" algn="ctr">
              <a:buNone/>
            </a:pPr>
            <a:r>
              <a:rPr lang="en-US" sz="950" dirty="0">
                <a:solidFill>
                  <a:srgbClr val="CFDCEB"/>
                </a:solidFill>
                <a:latin typeface="Calibri" pitchFamily="34" charset="0"/>
                <a:ea typeface="Calibri" pitchFamily="34" charset="-122"/>
                <a:cs typeface="Calibri" pitchFamily="34" charset="-120"/>
              </a:rPr>
              <a:t>holds R2, wants R1</a:t>
            </a:r>
            <a:endParaRPr lang="en-US" sz="950" dirty="0"/>
          </a:p>
        </p:txBody>
      </p:sp>
      <p:sp>
        <p:nvSpPr>
          <p:cNvPr id="11" name="Shape 8"/>
          <p:cNvSpPr/>
          <p:nvPr/>
        </p:nvSpPr>
        <p:spPr>
          <a:xfrm>
            <a:off x="10104120" y="1234440"/>
            <a:ext cx="2057400" cy="713232"/>
          </a:xfrm>
          <a:prstGeom prst="roundRect">
            <a:avLst>
              <a:gd name="adj" fmla="val 10256"/>
            </a:avLst>
          </a:prstGeom>
          <a:solidFill>
            <a:srgbClr val="26356E"/>
          </a:solidFill>
          <a:ln w="12700">
            <a:solidFill>
              <a:srgbClr val="FFFFFF"/>
            </a:solidFill>
            <a:prstDash val="solid"/>
          </a:ln>
        </p:spPr>
      </p:sp>
      <p:sp>
        <p:nvSpPr>
          <p:cNvPr id="12" name="Text 9"/>
          <p:cNvSpPr/>
          <p:nvPr/>
        </p:nvSpPr>
        <p:spPr>
          <a:xfrm>
            <a:off x="10104120" y="1280160"/>
            <a:ext cx="2057400" cy="39227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Resource R1</a:t>
            </a:r>
            <a:endParaRPr lang="en-US" sz="1300" dirty="0"/>
          </a:p>
        </p:txBody>
      </p:sp>
      <p:sp>
        <p:nvSpPr>
          <p:cNvPr id="13" name="Text 10"/>
          <p:cNvSpPr/>
          <p:nvPr/>
        </p:nvSpPr>
        <p:spPr>
          <a:xfrm>
            <a:off x="10104120" y="1626718"/>
            <a:ext cx="2057400" cy="299557"/>
          </a:xfrm>
          <a:prstGeom prst="rect">
            <a:avLst/>
          </a:prstGeom>
          <a:noFill/>
          <a:ln/>
        </p:spPr>
        <p:txBody>
          <a:bodyPr wrap="square" lIns="0" tIns="0" rIns="0" bIns="0" rtlCol="0" anchor="ctr"/>
          <a:lstStyle/>
          <a:p>
            <a:pPr marL="0" indent="0" algn="ctr">
              <a:buNone/>
            </a:pPr>
            <a:r>
              <a:rPr lang="en-US" sz="950" dirty="0">
                <a:solidFill>
                  <a:srgbClr val="CFDCEB"/>
                </a:solidFill>
                <a:latin typeface="Calibri" pitchFamily="34" charset="0"/>
                <a:ea typeface="Calibri" pitchFamily="34" charset="-122"/>
                <a:cs typeface="Calibri" pitchFamily="34" charset="-120"/>
              </a:rPr>
              <a:t>held by P2</a:t>
            </a:r>
            <a:endParaRPr lang="en-US" sz="950" dirty="0"/>
          </a:p>
        </p:txBody>
      </p:sp>
      <p:sp>
        <p:nvSpPr>
          <p:cNvPr id="14" name="Shape 11"/>
          <p:cNvSpPr/>
          <p:nvPr/>
        </p:nvSpPr>
        <p:spPr>
          <a:xfrm>
            <a:off x="10104120" y="3246120"/>
            <a:ext cx="2057400" cy="713232"/>
          </a:xfrm>
          <a:prstGeom prst="roundRect">
            <a:avLst>
              <a:gd name="adj" fmla="val 10256"/>
            </a:avLst>
          </a:prstGeom>
          <a:solidFill>
            <a:srgbClr val="1C7293"/>
          </a:solidFill>
          <a:ln w="12700">
            <a:solidFill>
              <a:srgbClr val="1C7293"/>
            </a:solidFill>
            <a:prstDash val="solid"/>
          </a:ln>
        </p:spPr>
      </p:sp>
      <p:sp>
        <p:nvSpPr>
          <p:cNvPr id="15" name="Text 12"/>
          <p:cNvSpPr/>
          <p:nvPr/>
        </p:nvSpPr>
        <p:spPr>
          <a:xfrm>
            <a:off x="10104120" y="3291840"/>
            <a:ext cx="2057400" cy="39227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Process P2</a:t>
            </a:r>
            <a:endParaRPr lang="en-US" sz="1300" dirty="0"/>
          </a:p>
        </p:txBody>
      </p:sp>
      <p:sp>
        <p:nvSpPr>
          <p:cNvPr id="16" name="Text 13"/>
          <p:cNvSpPr/>
          <p:nvPr/>
        </p:nvSpPr>
        <p:spPr>
          <a:xfrm>
            <a:off x="10104120" y="3638398"/>
            <a:ext cx="2057400" cy="299557"/>
          </a:xfrm>
          <a:prstGeom prst="rect">
            <a:avLst/>
          </a:prstGeom>
          <a:noFill/>
          <a:ln/>
        </p:spPr>
        <p:txBody>
          <a:bodyPr wrap="square" lIns="0" tIns="0" rIns="0" bIns="0" rtlCol="0" anchor="ctr"/>
          <a:lstStyle/>
          <a:p>
            <a:pPr marL="0" indent="0" algn="ctr">
              <a:buNone/>
            </a:pPr>
            <a:r>
              <a:rPr lang="en-US" sz="950" dirty="0">
                <a:solidFill>
                  <a:srgbClr val="CFDCEB"/>
                </a:solidFill>
                <a:latin typeface="Calibri" pitchFamily="34" charset="0"/>
                <a:ea typeface="Calibri" pitchFamily="34" charset="-122"/>
                <a:cs typeface="Calibri" pitchFamily="34" charset="-120"/>
              </a:rPr>
              <a:t>holds R1, wants R2</a:t>
            </a:r>
            <a:endParaRPr lang="en-US" sz="950" dirty="0"/>
          </a:p>
        </p:txBody>
      </p:sp>
      <p:sp>
        <p:nvSpPr>
          <p:cNvPr id="17" name="Shape 14"/>
          <p:cNvSpPr/>
          <p:nvPr/>
        </p:nvSpPr>
        <p:spPr>
          <a:xfrm>
            <a:off x="7360920" y="3246120"/>
            <a:ext cx="2057400" cy="713232"/>
          </a:xfrm>
          <a:prstGeom prst="roundRect">
            <a:avLst>
              <a:gd name="adj" fmla="val 10256"/>
            </a:avLst>
          </a:prstGeom>
          <a:solidFill>
            <a:srgbClr val="26356E"/>
          </a:solidFill>
          <a:ln w="12700">
            <a:solidFill>
              <a:srgbClr val="FFFFFF"/>
            </a:solidFill>
            <a:prstDash val="solid"/>
          </a:ln>
        </p:spPr>
      </p:sp>
      <p:sp>
        <p:nvSpPr>
          <p:cNvPr id="18" name="Text 15"/>
          <p:cNvSpPr/>
          <p:nvPr/>
        </p:nvSpPr>
        <p:spPr>
          <a:xfrm>
            <a:off x="7360920" y="3291840"/>
            <a:ext cx="2057400" cy="39227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Resource R2</a:t>
            </a:r>
            <a:endParaRPr lang="en-US" sz="1300" dirty="0"/>
          </a:p>
        </p:txBody>
      </p:sp>
      <p:sp>
        <p:nvSpPr>
          <p:cNvPr id="19" name="Text 16"/>
          <p:cNvSpPr/>
          <p:nvPr/>
        </p:nvSpPr>
        <p:spPr>
          <a:xfrm>
            <a:off x="7360920" y="3638398"/>
            <a:ext cx="2057400" cy="299557"/>
          </a:xfrm>
          <a:prstGeom prst="rect">
            <a:avLst/>
          </a:prstGeom>
          <a:noFill/>
          <a:ln/>
        </p:spPr>
        <p:txBody>
          <a:bodyPr wrap="square" lIns="0" tIns="0" rIns="0" bIns="0" rtlCol="0" anchor="ctr"/>
          <a:lstStyle/>
          <a:p>
            <a:pPr marL="0" indent="0" algn="ctr">
              <a:buNone/>
            </a:pPr>
            <a:r>
              <a:rPr lang="en-US" sz="950" dirty="0">
                <a:solidFill>
                  <a:srgbClr val="CFDCEB"/>
                </a:solidFill>
                <a:latin typeface="Calibri" pitchFamily="34" charset="0"/>
                <a:ea typeface="Calibri" pitchFamily="34" charset="-122"/>
                <a:cs typeface="Calibri" pitchFamily="34" charset="-120"/>
              </a:rPr>
              <a:t>held by P1</a:t>
            </a:r>
            <a:endParaRPr lang="en-US" sz="950" dirty="0"/>
          </a:p>
        </p:txBody>
      </p:sp>
      <p:sp>
        <p:nvSpPr>
          <p:cNvPr id="20" name="Shape 17"/>
          <p:cNvSpPr/>
          <p:nvPr/>
        </p:nvSpPr>
        <p:spPr>
          <a:xfrm>
            <a:off x="9491472" y="1591056"/>
            <a:ext cx="539496" cy="0"/>
          </a:xfrm>
          <a:prstGeom prst="line">
            <a:avLst/>
          </a:prstGeom>
          <a:noFill/>
          <a:ln w="19050">
            <a:solidFill>
              <a:srgbClr val="9AA4B8"/>
            </a:solidFill>
            <a:prstDash val="solid"/>
            <a:tailEnd type="triangle"/>
          </a:ln>
        </p:spPr>
      </p:sp>
      <p:sp>
        <p:nvSpPr>
          <p:cNvPr id="21" name="Shape 18"/>
          <p:cNvSpPr/>
          <p:nvPr/>
        </p:nvSpPr>
        <p:spPr>
          <a:xfrm>
            <a:off x="11132820" y="2020824"/>
            <a:ext cx="0" cy="1152144"/>
          </a:xfrm>
          <a:prstGeom prst="line">
            <a:avLst/>
          </a:prstGeom>
          <a:noFill/>
          <a:ln w="19050">
            <a:solidFill>
              <a:srgbClr val="9AA4B8"/>
            </a:solidFill>
            <a:prstDash val="solid"/>
            <a:tailEnd type="triangle"/>
          </a:ln>
        </p:spPr>
      </p:sp>
      <p:sp>
        <p:nvSpPr>
          <p:cNvPr id="22" name="Shape 19"/>
          <p:cNvSpPr/>
          <p:nvPr/>
        </p:nvSpPr>
        <p:spPr>
          <a:xfrm flipH="1">
            <a:off x="9491472" y="3602736"/>
            <a:ext cx="539496" cy="0"/>
          </a:xfrm>
          <a:prstGeom prst="line">
            <a:avLst/>
          </a:prstGeom>
          <a:noFill/>
          <a:ln w="19050">
            <a:solidFill>
              <a:srgbClr val="9AA4B8"/>
            </a:solidFill>
            <a:prstDash val="solid"/>
            <a:tailEnd type="triangle"/>
          </a:ln>
        </p:spPr>
      </p:sp>
      <p:sp>
        <p:nvSpPr>
          <p:cNvPr id="23" name="Shape 20"/>
          <p:cNvSpPr/>
          <p:nvPr/>
        </p:nvSpPr>
        <p:spPr>
          <a:xfrm flipV="1">
            <a:off x="8389620" y="2020824"/>
            <a:ext cx="0" cy="1152144"/>
          </a:xfrm>
          <a:prstGeom prst="line">
            <a:avLst/>
          </a:prstGeom>
          <a:noFill/>
          <a:ln w="19050">
            <a:solidFill>
              <a:srgbClr val="9AA4B8"/>
            </a:solidFill>
            <a:prstDash val="solid"/>
            <a:tailEnd type="triangle"/>
          </a:ln>
        </p:spPr>
      </p:sp>
      <p:sp>
        <p:nvSpPr>
          <p:cNvPr id="24" name="Text 21"/>
          <p:cNvSpPr/>
          <p:nvPr/>
        </p:nvSpPr>
        <p:spPr>
          <a:xfrm>
            <a:off x="9418320" y="2084832"/>
            <a:ext cx="685800" cy="822960"/>
          </a:xfrm>
          <a:prstGeom prst="rect">
            <a:avLst/>
          </a:prstGeom>
          <a:noFill/>
          <a:ln/>
        </p:spPr>
        <p:txBody>
          <a:bodyPr wrap="square" lIns="0" tIns="0" rIns="0" bIns="0" rtlCol="0" anchor="ctr"/>
          <a:lstStyle/>
          <a:p>
            <a:pPr marL="0" indent="0" algn="ctr">
              <a:lnSpc>
                <a:spcPct val="90000"/>
              </a:lnSpc>
              <a:buNone/>
            </a:pPr>
            <a:r>
              <a:rPr lang="en-US" sz="1200" b="1" dirty="0">
                <a:solidFill>
                  <a:srgbClr val="E8A33D"/>
                </a:solidFill>
                <a:latin typeface="Calibri" pitchFamily="34" charset="0"/>
                <a:ea typeface="Calibri" pitchFamily="34" charset="-122"/>
                <a:cs typeface="Calibri" pitchFamily="34" charset="-120"/>
              </a:rPr>
              <a:t>CIRCULAR</a:t>
            </a:r>
            <a:endParaRPr lang="en-US" sz="1200" dirty="0"/>
          </a:p>
          <a:p>
            <a:pPr marL="0" indent="0" algn="ctr">
              <a:lnSpc>
                <a:spcPct val="90000"/>
              </a:lnSpc>
              <a:buNone/>
            </a:pPr>
            <a:r>
              <a:rPr lang="en-US" sz="1200" b="1" dirty="0">
                <a:solidFill>
                  <a:srgbClr val="E8A33D"/>
                </a:solidFill>
                <a:latin typeface="Calibri" pitchFamily="34" charset="0"/>
                <a:ea typeface="Calibri" pitchFamily="34" charset="-122"/>
                <a:cs typeface="Calibri" pitchFamily="34" charset="-120"/>
              </a:rPr>
              <a:t>WAIT</a:t>
            </a:r>
            <a:endParaRPr lang="en-US" sz="1200" dirty="0"/>
          </a:p>
        </p:txBody>
      </p:sp>
      <p:sp>
        <p:nvSpPr>
          <p:cNvPr id="25" name="Text 22"/>
          <p:cNvSpPr/>
          <p:nvPr/>
        </p:nvSpPr>
        <p:spPr>
          <a:xfrm>
            <a:off x="6720840" y="4251960"/>
            <a:ext cx="5212080" cy="310896"/>
          </a:xfrm>
          <a:prstGeom prst="rect">
            <a:avLst/>
          </a:prstGeom>
          <a:noFill/>
          <a:ln/>
        </p:spPr>
        <p:txBody>
          <a:bodyPr wrap="square" lIns="0" tIns="0" rIns="0" bIns="0" rtlCol="0" anchor="ctr"/>
          <a:lstStyle/>
          <a:p>
            <a:pPr marL="0" indent="0" algn="ctr">
              <a:buNone/>
            </a:pPr>
            <a:r>
              <a:rPr lang="en-US" sz="1200" b="1" i="1" dirty="0">
                <a:solidFill>
                  <a:srgbClr val="E8A33D"/>
                </a:solidFill>
                <a:latin typeface="Calibri" pitchFamily="34" charset="0"/>
                <a:ea typeface="Calibri" pitchFamily="34" charset="-122"/>
                <a:cs typeface="Calibri" pitchFamily="34" charset="-120"/>
              </a:rPr>
              <a:t>Neither process can proceed - the cycle never breaks by itself</a:t>
            </a:r>
            <a:endParaRPr lang="en-US" sz="1200" dirty="0"/>
          </a:p>
        </p:txBody>
      </p:sp>
      <p:sp>
        <p:nvSpPr>
          <p:cNvPr id="26" name="Text 23"/>
          <p:cNvSpPr/>
          <p:nvPr/>
        </p:nvSpPr>
        <p:spPr>
          <a:xfrm>
            <a:off x="6720840" y="4663440"/>
            <a:ext cx="5212080" cy="310896"/>
          </a:xfrm>
          <a:prstGeom prst="rect">
            <a:avLst/>
          </a:prstGeom>
          <a:noFill/>
          <a:ln/>
        </p:spPr>
        <p:txBody>
          <a:bodyPr wrap="square" lIns="0" tIns="0" rIns="0" bIns="0" rtlCol="0" anchor="ctr"/>
          <a:lstStyle/>
          <a:p>
            <a:pPr marL="0" indent="0" algn="ctr">
              <a:buNone/>
            </a:pPr>
            <a:r>
              <a:rPr lang="en-US" sz="1100" dirty="0">
                <a:solidFill>
                  <a:srgbClr val="CFDCEB"/>
                </a:solidFill>
                <a:latin typeface="Calibri" pitchFamily="34" charset="0"/>
                <a:ea typeface="Calibri" pitchFamily="34" charset="-122"/>
                <a:cs typeface="Calibri" pitchFamily="34" charset="-120"/>
              </a:rPr>
              <a:t>Mutual exclusion  •  Hold and wait  •  No preemption  •  Circular wait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625328" y="274320"/>
            <a:ext cx="1143000" cy="261518"/>
          </a:xfrm>
          <a:prstGeom prst="rect">
            <a:avLst/>
          </a:prstGeom>
        </p:spPr>
      </p:pic>
      <p:sp>
        <p:nvSpPr>
          <p:cNvPr id="3" name="Text 0"/>
          <p:cNvSpPr/>
          <p:nvPr/>
        </p:nvSpPr>
        <p:spPr>
          <a:xfrm>
            <a:off x="457200" y="6355080"/>
            <a:ext cx="3383280" cy="274320"/>
          </a:xfrm>
          <a:prstGeom prst="rect">
            <a:avLst/>
          </a:prstGeom>
          <a:noFill/>
          <a:ln/>
        </p:spPr>
        <p:txBody>
          <a:bodyPr wrap="square" lIns="0" tIns="0" rIns="0" bIns="0" rtlCol="0" anchor="ctr"/>
          <a:lstStyle/>
          <a:p>
            <a:pPr marL="0" indent="0" algn="l">
              <a:buNone/>
            </a:pPr>
            <a:r>
              <a:rPr lang="en-US" sz="900" dirty="0">
                <a:solidFill>
                  <a:srgbClr val="9AA4B8"/>
                </a:solidFill>
                <a:latin typeface="Calibri" pitchFamily="34" charset="0"/>
                <a:ea typeface="Calibri" pitchFamily="34" charset="-122"/>
                <a:cs typeface="Calibri" pitchFamily="34" charset="-120"/>
              </a:rPr>
              <a:t>Computer Organization and Architecture (IT5301)</a:t>
            </a:r>
            <a:endParaRPr lang="en-US" sz="900" dirty="0"/>
          </a:p>
        </p:txBody>
      </p:sp>
      <p:sp>
        <p:nvSpPr>
          <p:cNvPr id="4" name="Text 1"/>
          <p:cNvSpPr/>
          <p:nvPr/>
        </p:nvSpPr>
        <p:spPr>
          <a:xfrm>
            <a:off x="3931920" y="6355080"/>
            <a:ext cx="4572000" cy="274320"/>
          </a:xfrm>
          <a:prstGeom prst="rect">
            <a:avLst/>
          </a:prstGeom>
          <a:noFill/>
          <a:ln/>
        </p:spPr>
        <p:txBody>
          <a:bodyPr wrap="square" lIns="0" tIns="0" rIns="0" bIns="0" rtlCol="0" anchor="ctr"/>
          <a:lstStyle/>
          <a:p>
            <a:pPr marL="0" indent="0" algn="ctr">
              <a:buNone/>
            </a:pPr>
            <a:r>
              <a:rPr lang="en-US" sz="900" dirty="0">
                <a:solidFill>
                  <a:srgbClr val="9AA4B8"/>
                </a:solidFill>
                <a:latin typeface="Calibri" pitchFamily="34" charset="0"/>
                <a:ea typeface="Calibri" pitchFamily="34" charset="-122"/>
                <a:cs typeface="Calibri" pitchFamily="34" charset="-120"/>
              </a:rPr>
              <a:t>Deadlock - Prevention, Avoidance, Detection and Recovery</a:t>
            </a:r>
            <a:endParaRPr lang="en-US" sz="900" dirty="0"/>
          </a:p>
        </p:txBody>
      </p:sp>
      <p:sp>
        <p:nvSpPr>
          <p:cNvPr id="5" name="Text 2"/>
          <p:cNvSpPr/>
          <p:nvPr/>
        </p:nvSpPr>
        <p:spPr>
          <a:xfrm>
            <a:off x="8595360" y="6355080"/>
            <a:ext cx="3136392" cy="274320"/>
          </a:xfrm>
          <a:prstGeom prst="rect">
            <a:avLst/>
          </a:prstGeom>
          <a:noFill/>
          <a:ln/>
        </p:spPr>
        <p:txBody>
          <a:bodyPr wrap="square" lIns="0" tIns="0" rIns="0" bIns="0" rtlCol="0" anchor="ctr"/>
          <a:lstStyle/>
          <a:p>
            <a:pPr marL="0" indent="0" algn="r">
              <a:buNone/>
            </a:pPr>
            <a:r>
              <a:rPr lang="en-US" sz="900" dirty="0">
                <a:solidFill>
                  <a:srgbClr val="9AA4B8"/>
                </a:solidFill>
                <a:latin typeface="Calibri" pitchFamily="34" charset="0"/>
                <a:ea typeface="Calibri" pitchFamily="34" charset="-122"/>
                <a:cs typeface="Calibri" pitchFamily="34" charset="-120"/>
              </a:rPr>
              <a:t>B.Tech IT  |  Chennai Institute of Technology  |  2</a:t>
            </a:r>
            <a:endParaRPr lang="en-US" sz="900" dirty="0"/>
          </a:p>
        </p:txBody>
      </p:sp>
      <p:sp>
        <p:nvSpPr>
          <p:cNvPr id="6" name="Text 3"/>
          <p:cNvSpPr/>
          <p:nvPr/>
        </p:nvSpPr>
        <p:spPr>
          <a:xfrm>
            <a:off x="457200" y="274320"/>
            <a:ext cx="9966960" cy="566928"/>
          </a:xfrm>
          <a:prstGeom prst="rect">
            <a:avLst/>
          </a:prstGeom>
          <a:noFill/>
          <a:ln/>
        </p:spPr>
        <p:txBody>
          <a:bodyPr wrap="square" lIns="0" tIns="0" rIns="0" bIns="0" rtlCol="0" anchor="ctr"/>
          <a:lstStyle/>
          <a:p>
            <a:pPr marL="0" indent="0">
              <a:buNone/>
            </a:pPr>
            <a:r>
              <a:rPr lang="en-US" sz="3200" b="1" dirty="0">
                <a:solidFill>
                  <a:srgbClr val="18244F"/>
                </a:solidFill>
                <a:latin typeface="Cambria" pitchFamily="34" charset="0"/>
                <a:ea typeface="Cambria" pitchFamily="34" charset="-122"/>
                <a:cs typeface="Cambria" pitchFamily="34" charset="-120"/>
              </a:rPr>
              <a:t>What is a Deadlock?  Necessary Conditions</a:t>
            </a:r>
            <a:endParaRPr lang="en-US" sz="3200" dirty="0"/>
          </a:p>
        </p:txBody>
      </p:sp>
      <p:sp>
        <p:nvSpPr>
          <p:cNvPr id="7" name="Text 4"/>
          <p:cNvSpPr/>
          <p:nvPr/>
        </p:nvSpPr>
        <p:spPr>
          <a:xfrm>
            <a:off x="457200" y="868680"/>
            <a:ext cx="10241280" cy="310896"/>
          </a:xfrm>
          <a:prstGeom prst="rect">
            <a:avLst/>
          </a:prstGeom>
          <a:noFill/>
          <a:ln/>
        </p:spPr>
        <p:txBody>
          <a:bodyPr wrap="square" lIns="0" tIns="0" rIns="0" bIns="0" rtlCol="0" anchor="ctr"/>
          <a:lstStyle/>
          <a:p>
            <a:pPr marL="0" indent="0">
              <a:buNone/>
            </a:pPr>
            <a:r>
              <a:rPr lang="en-US" sz="1350" dirty="0">
                <a:solidFill>
                  <a:srgbClr val="5A6273"/>
                </a:solidFill>
                <a:latin typeface="Calibri" pitchFamily="34" charset="0"/>
                <a:ea typeface="Calibri" pitchFamily="34" charset="-122"/>
                <a:cs typeface="Calibri" pitchFamily="34" charset="-120"/>
              </a:rPr>
              <a:t>A set of processes is deadlocked when every process is waiting for an event that only another process in the set can cause.</a:t>
            </a:r>
            <a:endParaRPr lang="en-US" sz="1350" dirty="0"/>
          </a:p>
        </p:txBody>
      </p:sp>
      <p:sp>
        <p:nvSpPr>
          <p:cNvPr id="8" name="Shape 5"/>
          <p:cNvSpPr/>
          <p:nvPr/>
        </p:nvSpPr>
        <p:spPr>
          <a:xfrm>
            <a:off x="457200" y="1417320"/>
            <a:ext cx="6400800" cy="1536192"/>
          </a:xfrm>
          <a:prstGeom prst="roundRect">
            <a:avLst>
              <a:gd name="adj" fmla="val 3571"/>
            </a:avLst>
          </a:prstGeom>
          <a:solidFill>
            <a:srgbClr val="16204A"/>
          </a:solidFill>
          <a:ln w="12700">
            <a:solidFill>
              <a:srgbClr val="26356E"/>
            </a:solidFill>
            <a:prstDash val="solid"/>
          </a:ln>
        </p:spPr>
      </p:sp>
      <p:sp>
        <p:nvSpPr>
          <p:cNvPr id="9" name="Text 6"/>
          <p:cNvSpPr/>
          <p:nvPr/>
        </p:nvSpPr>
        <p:spPr>
          <a:xfrm>
            <a:off x="658368" y="1563624"/>
            <a:ext cx="6035040" cy="1243584"/>
          </a:xfrm>
          <a:prstGeom prst="rect">
            <a:avLst/>
          </a:prstGeom>
          <a:noFill/>
          <a:ln/>
        </p:spPr>
        <p:txBody>
          <a:bodyPr wrap="square" lIns="0" tIns="0" rIns="0" bIns="0" rtlCol="0" anchor="t"/>
          <a:lstStyle/>
          <a:p>
            <a:pPr marL="0" indent="0">
              <a:lnSpc>
                <a:spcPct val="108000"/>
              </a:lnSpc>
              <a:buNone/>
            </a:pPr>
            <a:r>
              <a:rPr lang="en-US" sz="1200" dirty="0">
                <a:solidFill>
                  <a:srgbClr val="E3E9F5"/>
                </a:solidFill>
                <a:latin typeface="Courier New" pitchFamily="34" charset="0"/>
                <a:ea typeface="Courier New" pitchFamily="34" charset="-122"/>
                <a:cs typeface="Courier New" pitchFamily="34" charset="-120"/>
              </a:rPr>
              <a:t>Process P1                    Process P2</a:t>
            </a:r>
            <a:endParaRPr lang="en-US" sz="1200" dirty="0"/>
          </a:p>
          <a:p>
            <a:pPr marL="0" indent="0">
              <a:lnSpc>
                <a:spcPct val="108000"/>
              </a:lnSpc>
              <a:buNone/>
            </a:pPr>
            <a:r>
              <a:rPr lang="en-US" sz="1200" dirty="0">
                <a:solidFill>
                  <a:srgbClr val="E3E9F5"/>
                </a:solidFill>
                <a:latin typeface="Courier New" pitchFamily="34" charset="0"/>
                <a:ea typeface="Courier New" pitchFamily="34" charset="-122"/>
                <a:cs typeface="Courier New" pitchFamily="34" charset="-120"/>
              </a:rPr>
              <a:t>  lock(Printer);                lock(Scanner);</a:t>
            </a:r>
            <a:endParaRPr lang="en-US" sz="1200" dirty="0"/>
          </a:p>
          <a:p>
            <a:pPr marL="0" indent="0">
              <a:lnSpc>
                <a:spcPct val="108000"/>
              </a:lnSpc>
              <a:buNone/>
            </a:pPr>
            <a:r>
              <a:rPr lang="en-US" sz="1200" dirty="0">
                <a:solidFill>
                  <a:srgbClr val="E3E9F5"/>
                </a:solidFill>
                <a:latin typeface="Courier New" pitchFamily="34" charset="0"/>
                <a:ea typeface="Courier New" pitchFamily="34" charset="-122"/>
                <a:cs typeface="Courier New" pitchFamily="34" charset="-120"/>
              </a:rPr>
              <a:t>  lock(Scanner);   &lt;-- waits    lock(Printer);   &lt;-- waits</a:t>
            </a:r>
            <a:endParaRPr lang="en-US" sz="1200" dirty="0"/>
          </a:p>
          <a:p>
            <a:pPr marL="0" indent="0">
              <a:lnSpc>
                <a:spcPct val="108000"/>
              </a:lnSpc>
              <a:buNone/>
            </a:pPr>
            <a:endParaRPr lang="en-US" sz="1200" dirty="0"/>
          </a:p>
          <a:p>
            <a:pPr marL="0" indent="0">
              <a:lnSpc>
                <a:spcPct val="108000"/>
              </a:lnSpc>
              <a:buNone/>
            </a:pPr>
            <a:r>
              <a:rPr lang="en-US" sz="1200" dirty="0">
                <a:solidFill>
                  <a:srgbClr val="E3E9F5"/>
                </a:solidFill>
                <a:latin typeface="Courier New" pitchFamily="34" charset="0"/>
                <a:ea typeface="Courier New" pitchFamily="34" charset="-122"/>
                <a:cs typeface="Courier New" pitchFamily="34" charset="-120"/>
              </a:rPr>
              <a:t>  </a:t>
            </a:r>
            <a:r>
              <a:rPr lang="en-US" sz="1200" b="1" dirty="0">
                <a:solidFill>
                  <a:srgbClr val="F0B355"/>
                </a:solidFill>
                <a:latin typeface="Courier New" pitchFamily="34" charset="0"/>
                <a:ea typeface="Courier New" pitchFamily="34" charset="-122"/>
                <a:cs typeface="Courier New" pitchFamily="34" charset="-120"/>
              </a:rPr>
              <a:t>Both processes block forever  =&gt;  DEADLOCK</a:t>
            </a:r>
            <a:endParaRPr lang="en-US" sz="1200" dirty="0"/>
          </a:p>
        </p:txBody>
      </p:sp>
      <p:sp>
        <p:nvSpPr>
          <p:cNvPr id="10" name="Shape 7"/>
          <p:cNvSpPr/>
          <p:nvPr/>
        </p:nvSpPr>
        <p:spPr>
          <a:xfrm>
            <a:off x="457200" y="3127248"/>
            <a:ext cx="6400800" cy="1298448"/>
          </a:xfrm>
          <a:prstGeom prst="roundRect">
            <a:avLst>
              <a:gd name="adj" fmla="val 5634"/>
            </a:avLst>
          </a:prstGeom>
          <a:solidFill>
            <a:srgbClr val="EEF2F8"/>
          </a:solidFill>
          <a:ln w="12700">
            <a:solidFill>
              <a:srgbClr val="D5DEEA"/>
            </a:solidFill>
            <a:prstDash val="solid"/>
          </a:ln>
        </p:spPr>
      </p:sp>
      <p:sp>
        <p:nvSpPr>
          <p:cNvPr id="11" name="Text 8"/>
          <p:cNvSpPr/>
          <p:nvPr/>
        </p:nvSpPr>
        <p:spPr>
          <a:xfrm>
            <a:off x="658368" y="3218688"/>
            <a:ext cx="6035040" cy="1115568"/>
          </a:xfrm>
          <a:prstGeom prst="rect">
            <a:avLst/>
          </a:prstGeom>
          <a:noFill/>
          <a:ln/>
        </p:spPr>
        <p:txBody>
          <a:bodyPr wrap="square" lIns="0" tIns="0" rIns="0" bIns="0" rtlCol="0" anchor="ctr"/>
          <a:lstStyle/>
          <a:p>
            <a:pPr marL="0" indent="0">
              <a:buNone/>
            </a:pPr>
            <a:r>
              <a:rPr lang="en-US" sz="1150" b="1" dirty="0">
                <a:solidFill>
                  <a:srgbClr val="18244F"/>
                </a:solidFill>
                <a:latin typeface="Calibri" pitchFamily="34" charset="0"/>
                <a:ea typeface="Calibri" pitchFamily="34" charset="-122"/>
                <a:cs typeface="Calibri" pitchFamily="34" charset="-120"/>
              </a:rPr>
              <a:t>Resource allocation graph:  </a:t>
            </a:r>
            <a:r>
              <a:rPr lang="en-US" sz="1150" dirty="0">
                <a:solidFill>
                  <a:srgbClr val="5A6273"/>
                </a:solidFill>
                <a:latin typeface="Calibri" pitchFamily="34" charset="0"/>
                <a:ea typeface="Calibri" pitchFamily="34" charset="-122"/>
                <a:cs typeface="Calibri" pitchFamily="34" charset="-120"/>
              </a:rPr>
              <a:t>processes and resources are drawn as nodes; a request edge points from a process to a resource, an assignment edge from a resource to a process. If the graph contains a cycle - and each resource has a single instance - the system is deadlocked.</a:t>
            </a:r>
            <a:endParaRPr lang="en-US" sz="1150" dirty="0"/>
          </a:p>
        </p:txBody>
      </p:sp>
      <p:sp>
        <p:nvSpPr>
          <p:cNvPr id="12" name="Shape 9"/>
          <p:cNvSpPr/>
          <p:nvPr/>
        </p:nvSpPr>
        <p:spPr>
          <a:xfrm>
            <a:off x="457200" y="4544568"/>
            <a:ext cx="6400800" cy="1325880"/>
          </a:xfrm>
          <a:prstGeom prst="roundRect">
            <a:avLst>
              <a:gd name="adj" fmla="val 5517"/>
            </a:avLst>
          </a:prstGeom>
          <a:solidFill>
            <a:srgbClr val="EAF2F6"/>
          </a:solidFill>
          <a:ln w="12700">
            <a:solidFill>
              <a:srgbClr val="BFD8E2"/>
            </a:solidFill>
            <a:prstDash val="solid"/>
          </a:ln>
        </p:spPr>
      </p:sp>
      <p:sp>
        <p:nvSpPr>
          <p:cNvPr id="13" name="Text 10"/>
          <p:cNvSpPr/>
          <p:nvPr/>
        </p:nvSpPr>
        <p:spPr>
          <a:xfrm>
            <a:off x="658368" y="4636008"/>
            <a:ext cx="6035040" cy="1143000"/>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Deadlock vs starvation:  </a:t>
            </a:r>
            <a:r>
              <a:rPr lang="en-US" sz="1150" dirty="0">
                <a:solidFill>
                  <a:srgbClr val="5A6273"/>
                </a:solidFill>
                <a:latin typeface="Calibri" pitchFamily="34" charset="0"/>
                <a:ea typeface="Calibri" pitchFamily="34" charset="-122"/>
                <a:cs typeface="Calibri" pitchFamily="34" charset="-120"/>
              </a:rPr>
              <a:t>a deadlocked process can never run again; a starved process could run, but the scheduler keeps postponing it. Deadlock is a permanent circular wait, starvation is an unfair delay.</a:t>
            </a:r>
            <a:endParaRPr lang="en-US" sz="1150" dirty="0"/>
          </a:p>
        </p:txBody>
      </p:sp>
      <p:sp>
        <p:nvSpPr>
          <p:cNvPr id="14" name="Text 11"/>
          <p:cNvSpPr/>
          <p:nvPr/>
        </p:nvSpPr>
        <p:spPr>
          <a:xfrm>
            <a:off x="7178040" y="1389888"/>
            <a:ext cx="4553712" cy="274320"/>
          </a:xfrm>
          <a:prstGeom prst="rect">
            <a:avLst/>
          </a:prstGeom>
          <a:noFill/>
          <a:ln/>
        </p:spPr>
        <p:txBody>
          <a:bodyPr wrap="square" lIns="0" tIns="0" rIns="0" bIns="0" rtlCol="0" anchor="ctr"/>
          <a:lstStyle/>
          <a:p>
            <a:pPr marL="0" indent="0">
              <a:buNone/>
            </a:pPr>
            <a:r>
              <a:rPr lang="en-US" sz="1200" b="1" dirty="0">
                <a:solidFill>
                  <a:srgbClr val="18244F"/>
                </a:solidFill>
                <a:latin typeface="Calibri" pitchFamily="34" charset="0"/>
                <a:ea typeface="Calibri" pitchFamily="34" charset="-122"/>
                <a:cs typeface="Calibri" pitchFamily="34" charset="-120"/>
              </a:rPr>
              <a:t>All four conditions must hold at the same time (Coffman conditions)</a:t>
            </a:r>
            <a:endParaRPr lang="en-US" sz="1200" dirty="0"/>
          </a:p>
        </p:txBody>
      </p:sp>
      <p:sp>
        <p:nvSpPr>
          <p:cNvPr id="15" name="Shape 12"/>
          <p:cNvSpPr/>
          <p:nvPr/>
        </p:nvSpPr>
        <p:spPr>
          <a:xfrm>
            <a:off x="7178040" y="1755648"/>
            <a:ext cx="4553712" cy="941832"/>
          </a:xfrm>
          <a:prstGeom prst="roundRect">
            <a:avLst>
              <a:gd name="adj" fmla="val 7767"/>
            </a:avLst>
          </a:prstGeom>
          <a:solidFill>
            <a:srgbClr val="EEF2F8"/>
          </a:solidFill>
          <a:ln w="12700">
            <a:solidFill>
              <a:srgbClr val="D5DEEA"/>
            </a:solidFill>
            <a:prstDash val="solid"/>
          </a:ln>
        </p:spPr>
      </p:sp>
      <p:sp>
        <p:nvSpPr>
          <p:cNvPr id="16" name="Shape 13"/>
          <p:cNvSpPr/>
          <p:nvPr/>
        </p:nvSpPr>
        <p:spPr>
          <a:xfrm>
            <a:off x="7379208" y="1901952"/>
            <a:ext cx="329184" cy="329184"/>
          </a:xfrm>
          <a:prstGeom prst="ellipse">
            <a:avLst/>
          </a:prstGeom>
          <a:solidFill>
            <a:srgbClr val="18244F"/>
          </a:solidFill>
          <a:ln w="12700">
            <a:solidFill>
              <a:srgbClr val="18244F"/>
            </a:solidFill>
            <a:prstDash val="solid"/>
          </a:ln>
        </p:spPr>
      </p:sp>
      <p:sp>
        <p:nvSpPr>
          <p:cNvPr id="17" name="Text 14"/>
          <p:cNvSpPr/>
          <p:nvPr/>
        </p:nvSpPr>
        <p:spPr>
          <a:xfrm>
            <a:off x="7379208" y="190195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p:nvPr/>
        </p:nvSpPr>
        <p:spPr>
          <a:xfrm>
            <a:off x="7818120" y="1810512"/>
            <a:ext cx="3749040" cy="274320"/>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Mutual exclusion</a:t>
            </a:r>
            <a:endParaRPr lang="en-US" sz="1250" dirty="0"/>
          </a:p>
        </p:txBody>
      </p:sp>
      <p:sp>
        <p:nvSpPr>
          <p:cNvPr id="19" name="Text 16"/>
          <p:cNvSpPr/>
          <p:nvPr/>
        </p:nvSpPr>
        <p:spPr>
          <a:xfrm>
            <a:off x="7818120" y="2084832"/>
            <a:ext cx="3749040" cy="548640"/>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At least one resource is non-sharable - only one process may use it at a time.</a:t>
            </a:r>
            <a:endParaRPr lang="en-US" sz="1050" dirty="0"/>
          </a:p>
        </p:txBody>
      </p:sp>
      <p:sp>
        <p:nvSpPr>
          <p:cNvPr id="20" name="Shape 17"/>
          <p:cNvSpPr/>
          <p:nvPr/>
        </p:nvSpPr>
        <p:spPr>
          <a:xfrm>
            <a:off x="7178040" y="2807208"/>
            <a:ext cx="4553712" cy="941832"/>
          </a:xfrm>
          <a:prstGeom prst="roundRect">
            <a:avLst>
              <a:gd name="adj" fmla="val 7767"/>
            </a:avLst>
          </a:prstGeom>
          <a:solidFill>
            <a:srgbClr val="EEF2F8"/>
          </a:solidFill>
          <a:ln w="12700">
            <a:solidFill>
              <a:srgbClr val="D5DEEA"/>
            </a:solidFill>
            <a:prstDash val="solid"/>
          </a:ln>
        </p:spPr>
      </p:sp>
      <p:sp>
        <p:nvSpPr>
          <p:cNvPr id="21" name="Shape 18"/>
          <p:cNvSpPr/>
          <p:nvPr/>
        </p:nvSpPr>
        <p:spPr>
          <a:xfrm>
            <a:off x="7379208" y="2953512"/>
            <a:ext cx="329184" cy="329184"/>
          </a:xfrm>
          <a:prstGeom prst="ellipse">
            <a:avLst/>
          </a:prstGeom>
          <a:solidFill>
            <a:srgbClr val="1C7293"/>
          </a:solidFill>
          <a:ln w="12700">
            <a:solidFill>
              <a:srgbClr val="1C7293"/>
            </a:solidFill>
            <a:prstDash val="solid"/>
          </a:ln>
        </p:spPr>
      </p:sp>
      <p:sp>
        <p:nvSpPr>
          <p:cNvPr id="22" name="Text 19"/>
          <p:cNvSpPr/>
          <p:nvPr/>
        </p:nvSpPr>
        <p:spPr>
          <a:xfrm>
            <a:off x="7379208" y="295351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p:nvPr/>
        </p:nvSpPr>
        <p:spPr>
          <a:xfrm>
            <a:off x="7818120" y="2862072"/>
            <a:ext cx="3749040" cy="274320"/>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Hold and wait</a:t>
            </a:r>
            <a:endParaRPr lang="en-US" sz="1250" dirty="0"/>
          </a:p>
        </p:txBody>
      </p:sp>
      <p:sp>
        <p:nvSpPr>
          <p:cNvPr id="24" name="Text 21"/>
          <p:cNvSpPr/>
          <p:nvPr/>
        </p:nvSpPr>
        <p:spPr>
          <a:xfrm>
            <a:off x="7818120" y="3136392"/>
            <a:ext cx="3749040" cy="548640"/>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A process holding a resource is allowed to request more resources.</a:t>
            </a:r>
            <a:endParaRPr lang="en-US" sz="1050" dirty="0"/>
          </a:p>
        </p:txBody>
      </p:sp>
      <p:sp>
        <p:nvSpPr>
          <p:cNvPr id="25" name="Shape 22"/>
          <p:cNvSpPr/>
          <p:nvPr/>
        </p:nvSpPr>
        <p:spPr>
          <a:xfrm>
            <a:off x="7178040" y="3858768"/>
            <a:ext cx="4553712" cy="941832"/>
          </a:xfrm>
          <a:prstGeom prst="roundRect">
            <a:avLst>
              <a:gd name="adj" fmla="val 7767"/>
            </a:avLst>
          </a:prstGeom>
          <a:solidFill>
            <a:srgbClr val="EEF2F8"/>
          </a:solidFill>
          <a:ln w="12700">
            <a:solidFill>
              <a:srgbClr val="D5DEEA"/>
            </a:solidFill>
            <a:prstDash val="solid"/>
          </a:ln>
        </p:spPr>
      </p:sp>
      <p:sp>
        <p:nvSpPr>
          <p:cNvPr id="26" name="Shape 23"/>
          <p:cNvSpPr/>
          <p:nvPr/>
        </p:nvSpPr>
        <p:spPr>
          <a:xfrm>
            <a:off x="7379208" y="4005072"/>
            <a:ext cx="329184" cy="329184"/>
          </a:xfrm>
          <a:prstGeom prst="ellipse">
            <a:avLst/>
          </a:prstGeom>
          <a:solidFill>
            <a:srgbClr val="18244F"/>
          </a:solidFill>
          <a:ln w="12700">
            <a:solidFill>
              <a:srgbClr val="18244F"/>
            </a:solidFill>
            <a:prstDash val="solid"/>
          </a:ln>
        </p:spPr>
      </p:sp>
      <p:sp>
        <p:nvSpPr>
          <p:cNvPr id="27" name="Text 24"/>
          <p:cNvSpPr/>
          <p:nvPr/>
        </p:nvSpPr>
        <p:spPr>
          <a:xfrm>
            <a:off x="7379208" y="400507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p:nvPr/>
        </p:nvSpPr>
        <p:spPr>
          <a:xfrm>
            <a:off x="7818120" y="3913632"/>
            <a:ext cx="3749040" cy="274320"/>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No preemption</a:t>
            </a:r>
            <a:endParaRPr lang="en-US" sz="1250" dirty="0"/>
          </a:p>
        </p:txBody>
      </p:sp>
      <p:sp>
        <p:nvSpPr>
          <p:cNvPr id="29" name="Text 26"/>
          <p:cNvSpPr/>
          <p:nvPr/>
        </p:nvSpPr>
        <p:spPr>
          <a:xfrm>
            <a:off x="7818120" y="4187952"/>
            <a:ext cx="3749040" cy="548640"/>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A resource is released only voluntarily, by the process holding it.</a:t>
            </a:r>
            <a:endParaRPr lang="en-US" sz="1050" dirty="0"/>
          </a:p>
        </p:txBody>
      </p:sp>
      <p:sp>
        <p:nvSpPr>
          <p:cNvPr id="30" name="Shape 27"/>
          <p:cNvSpPr/>
          <p:nvPr/>
        </p:nvSpPr>
        <p:spPr>
          <a:xfrm>
            <a:off x="7178040" y="4910328"/>
            <a:ext cx="4553712" cy="941832"/>
          </a:xfrm>
          <a:prstGeom prst="roundRect">
            <a:avLst>
              <a:gd name="adj" fmla="val 7767"/>
            </a:avLst>
          </a:prstGeom>
          <a:solidFill>
            <a:srgbClr val="FDF0DA"/>
          </a:solidFill>
          <a:ln w="12700">
            <a:solidFill>
              <a:srgbClr val="E8A33D"/>
            </a:solidFill>
            <a:prstDash val="solid"/>
          </a:ln>
        </p:spPr>
      </p:sp>
      <p:sp>
        <p:nvSpPr>
          <p:cNvPr id="31" name="Shape 28"/>
          <p:cNvSpPr/>
          <p:nvPr/>
        </p:nvSpPr>
        <p:spPr>
          <a:xfrm>
            <a:off x="7379208" y="5056632"/>
            <a:ext cx="329184" cy="329184"/>
          </a:xfrm>
          <a:prstGeom prst="ellipse">
            <a:avLst/>
          </a:prstGeom>
          <a:solidFill>
            <a:srgbClr val="E8A33D"/>
          </a:solidFill>
          <a:ln w="12700">
            <a:solidFill>
              <a:srgbClr val="E8A33D"/>
            </a:solidFill>
            <a:prstDash val="solid"/>
          </a:ln>
        </p:spPr>
      </p:sp>
      <p:sp>
        <p:nvSpPr>
          <p:cNvPr id="32" name="Text 29"/>
          <p:cNvSpPr/>
          <p:nvPr/>
        </p:nvSpPr>
        <p:spPr>
          <a:xfrm>
            <a:off x="7379208" y="5056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p:nvPr/>
        </p:nvSpPr>
        <p:spPr>
          <a:xfrm>
            <a:off x="7818120" y="4965192"/>
            <a:ext cx="3749040" cy="274320"/>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Circular wait</a:t>
            </a:r>
            <a:endParaRPr lang="en-US" sz="1250" dirty="0"/>
          </a:p>
        </p:txBody>
      </p:sp>
      <p:sp>
        <p:nvSpPr>
          <p:cNvPr id="34" name="Text 31"/>
          <p:cNvSpPr/>
          <p:nvPr/>
        </p:nvSpPr>
        <p:spPr>
          <a:xfrm>
            <a:off x="7818120" y="5239512"/>
            <a:ext cx="3749040" cy="548640"/>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P1 waits for P2, P2 waits for P3, ... Pn waits for P1 - a closed chain.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625328" y="274320"/>
            <a:ext cx="1143000" cy="261518"/>
          </a:xfrm>
          <a:prstGeom prst="rect">
            <a:avLst/>
          </a:prstGeom>
        </p:spPr>
      </p:pic>
      <p:sp>
        <p:nvSpPr>
          <p:cNvPr id="3" name="Text 0"/>
          <p:cNvSpPr/>
          <p:nvPr/>
        </p:nvSpPr>
        <p:spPr>
          <a:xfrm>
            <a:off x="457200" y="6355080"/>
            <a:ext cx="3383280" cy="274320"/>
          </a:xfrm>
          <a:prstGeom prst="rect">
            <a:avLst/>
          </a:prstGeom>
          <a:noFill/>
          <a:ln/>
        </p:spPr>
        <p:txBody>
          <a:bodyPr wrap="square" lIns="0" tIns="0" rIns="0" bIns="0" rtlCol="0" anchor="ctr"/>
          <a:lstStyle/>
          <a:p>
            <a:pPr marL="0" indent="0" algn="l">
              <a:buNone/>
            </a:pPr>
            <a:r>
              <a:rPr lang="en-US" sz="900" dirty="0">
                <a:solidFill>
                  <a:srgbClr val="9AA4B8"/>
                </a:solidFill>
                <a:latin typeface="Calibri" pitchFamily="34" charset="0"/>
                <a:ea typeface="Calibri" pitchFamily="34" charset="-122"/>
                <a:cs typeface="Calibri" pitchFamily="34" charset="-120"/>
              </a:rPr>
              <a:t>Computer Organization and Architecture (IT5301)</a:t>
            </a:r>
            <a:endParaRPr lang="en-US" sz="900" dirty="0"/>
          </a:p>
        </p:txBody>
      </p:sp>
      <p:sp>
        <p:nvSpPr>
          <p:cNvPr id="4" name="Text 1"/>
          <p:cNvSpPr/>
          <p:nvPr/>
        </p:nvSpPr>
        <p:spPr>
          <a:xfrm>
            <a:off x="3931920" y="6355080"/>
            <a:ext cx="4572000" cy="274320"/>
          </a:xfrm>
          <a:prstGeom prst="rect">
            <a:avLst/>
          </a:prstGeom>
          <a:noFill/>
          <a:ln/>
        </p:spPr>
        <p:txBody>
          <a:bodyPr wrap="square" lIns="0" tIns="0" rIns="0" bIns="0" rtlCol="0" anchor="ctr"/>
          <a:lstStyle/>
          <a:p>
            <a:pPr marL="0" indent="0" algn="ctr">
              <a:buNone/>
            </a:pPr>
            <a:r>
              <a:rPr lang="en-US" sz="900" dirty="0">
                <a:solidFill>
                  <a:srgbClr val="9AA4B8"/>
                </a:solidFill>
                <a:latin typeface="Calibri" pitchFamily="34" charset="0"/>
                <a:ea typeface="Calibri" pitchFamily="34" charset="-122"/>
                <a:cs typeface="Calibri" pitchFamily="34" charset="-120"/>
              </a:rPr>
              <a:t>Deadlock - Prevention, Avoidance, Detection and Recovery</a:t>
            </a:r>
            <a:endParaRPr lang="en-US" sz="900" dirty="0"/>
          </a:p>
        </p:txBody>
      </p:sp>
      <p:sp>
        <p:nvSpPr>
          <p:cNvPr id="5" name="Text 2"/>
          <p:cNvSpPr/>
          <p:nvPr/>
        </p:nvSpPr>
        <p:spPr>
          <a:xfrm>
            <a:off x="8595360" y="6355080"/>
            <a:ext cx="3136392" cy="274320"/>
          </a:xfrm>
          <a:prstGeom prst="rect">
            <a:avLst/>
          </a:prstGeom>
          <a:noFill/>
          <a:ln/>
        </p:spPr>
        <p:txBody>
          <a:bodyPr wrap="square" lIns="0" tIns="0" rIns="0" bIns="0" rtlCol="0" anchor="ctr"/>
          <a:lstStyle/>
          <a:p>
            <a:pPr marL="0" indent="0" algn="r">
              <a:buNone/>
            </a:pPr>
            <a:r>
              <a:rPr lang="en-US" sz="900" dirty="0">
                <a:solidFill>
                  <a:srgbClr val="9AA4B8"/>
                </a:solidFill>
                <a:latin typeface="Calibri" pitchFamily="34" charset="0"/>
                <a:ea typeface="Calibri" pitchFamily="34" charset="-122"/>
                <a:cs typeface="Calibri" pitchFamily="34" charset="-120"/>
              </a:rPr>
              <a:t>B.Tech IT  |  Chennai Institute of Technology  |  3</a:t>
            </a:r>
            <a:endParaRPr lang="en-US" sz="900" dirty="0"/>
          </a:p>
        </p:txBody>
      </p:sp>
      <p:sp>
        <p:nvSpPr>
          <p:cNvPr id="6" name="Text 3"/>
          <p:cNvSpPr/>
          <p:nvPr/>
        </p:nvSpPr>
        <p:spPr>
          <a:xfrm>
            <a:off x="457200" y="274320"/>
            <a:ext cx="9966960" cy="566928"/>
          </a:xfrm>
          <a:prstGeom prst="rect">
            <a:avLst/>
          </a:prstGeom>
          <a:noFill/>
          <a:ln/>
        </p:spPr>
        <p:txBody>
          <a:bodyPr wrap="square" lIns="0" tIns="0" rIns="0" bIns="0" rtlCol="0" anchor="ctr"/>
          <a:lstStyle/>
          <a:p>
            <a:pPr marL="0" indent="0">
              <a:buNone/>
            </a:pPr>
            <a:r>
              <a:rPr lang="en-US" sz="3200" b="1" dirty="0">
                <a:solidFill>
                  <a:srgbClr val="18244F"/>
                </a:solidFill>
                <a:latin typeface="Cambria" pitchFamily="34" charset="0"/>
                <a:ea typeface="Cambria" pitchFamily="34" charset="-122"/>
                <a:cs typeface="Cambria" pitchFamily="34" charset="-120"/>
              </a:rPr>
              <a:t>Methods for Handling Deadlocks  |  Prevention</a:t>
            </a:r>
            <a:endParaRPr lang="en-US" sz="3200" dirty="0"/>
          </a:p>
        </p:txBody>
      </p:sp>
      <p:sp>
        <p:nvSpPr>
          <p:cNvPr id="7" name="Text 4"/>
          <p:cNvSpPr/>
          <p:nvPr/>
        </p:nvSpPr>
        <p:spPr>
          <a:xfrm>
            <a:off x="457200" y="868680"/>
            <a:ext cx="10241280" cy="310896"/>
          </a:xfrm>
          <a:prstGeom prst="rect">
            <a:avLst/>
          </a:prstGeom>
          <a:noFill/>
          <a:ln/>
        </p:spPr>
        <p:txBody>
          <a:bodyPr wrap="square" lIns="0" tIns="0" rIns="0" bIns="0" rtlCol="0" anchor="ctr"/>
          <a:lstStyle/>
          <a:p>
            <a:pPr marL="0" indent="0">
              <a:buNone/>
            </a:pPr>
            <a:r>
              <a:rPr lang="en-US" sz="1350" dirty="0">
                <a:solidFill>
                  <a:srgbClr val="5A6273"/>
                </a:solidFill>
                <a:latin typeface="Calibri" pitchFamily="34" charset="0"/>
                <a:ea typeface="Calibri" pitchFamily="34" charset="-122"/>
                <a:cs typeface="Calibri" pitchFamily="34" charset="-120"/>
              </a:rPr>
              <a:t>Four strategies exist; prevention attacks the problem by making one of the four conditions impossible by design.</a:t>
            </a:r>
            <a:endParaRPr lang="en-US" sz="1350" dirty="0"/>
          </a:p>
        </p:txBody>
      </p:sp>
      <p:sp>
        <p:nvSpPr>
          <p:cNvPr id="8" name="Shape 5"/>
          <p:cNvSpPr/>
          <p:nvPr/>
        </p:nvSpPr>
        <p:spPr>
          <a:xfrm>
            <a:off x="457200" y="1371600"/>
            <a:ext cx="2715768" cy="1170432"/>
          </a:xfrm>
          <a:prstGeom prst="roundRect">
            <a:avLst>
              <a:gd name="adj" fmla="val 6250"/>
            </a:avLst>
          </a:prstGeom>
          <a:solidFill>
            <a:srgbClr val="EEF2F8"/>
          </a:solidFill>
          <a:ln w="12700">
            <a:solidFill>
              <a:srgbClr val="D5DEEA"/>
            </a:solidFill>
            <a:prstDash val="solid"/>
          </a:ln>
        </p:spPr>
      </p:sp>
      <p:sp>
        <p:nvSpPr>
          <p:cNvPr id="9" name="Shape 6"/>
          <p:cNvSpPr/>
          <p:nvPr/>
        </p:nvSpPr>
        <p:spPr>
          <a:xfrm>
            <a:off x="621792" y="1517904"/>
            <a:ext cx="384048" cy="384048"/>
          </a:xfrm>
          <a:prstGeom prst="ellipse">
            <a:avLst/>
          </a:prstGeom>
          <a:solidFill>
            <a:srgbClr val="18244F"/>
          </a:solidFill>
          <a:ln w="12700">
            <a:solidFill>
              <a:srgbClr val="18244F"/>
            </a:solidFill>
            <a:prstDash val="solid"/>
          </a:ln>
        </p:spPr>
      </p:sp>
      <p:sp>
        <p:nvSpPr>
          <p:cNvPr id="10" name="Text 7"/>
          <p:cNvSpPr/>
          <p:nvPr/>
        </p:nvSpPr>
        <p:spPr>
          <a:xfrm>
            <a:off x="621792" y="15179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8"/>
          <p:cNvSpPr/>
          <p:nvPr/>
        </p:nvSpPr>
        <p:spPr>
          <a:xfrm>
            <a:off x="1097280" y="1481328"/>
            <a:ext cx="1965960" cy="292608"/>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Prevention</a:t>
            </a:r>
            <a:endParaRPr lang="en-US" sz="1250" dirty="0"/>
          </a:p>
        </p:txBody>
      </p:sp>
      <p:sp>
        <p:nvSpPr>
          <p:cNvPr id="12" name="Text 9"/>
          <p:cNvSpPr/>
          <p:nvPr/>
        </p:nvSpPr>
        <p:spPr>
          <a:xfrm>
            <a:off x="621792" y="1920240"/>
            <a:ext cx="2395728" cy="548640"/>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Design so that one condition can never hold</a:t>
            </a:r>
            <a:endParaRPr lang="en-US" sz="1050" dirty="0"/>
          </a:p>
        </p:txBody>
      </p:sp>
      <p:sp>
        <p:nvSpPr>
          <p:cNvPr id="13" name="Shape 10"/>
          <p:cNvSpPr/>
          <p:nvPr/>
        </p:nvSpPr>
        <p:spPr>
          <a:xfrm>
            <a:off x="3346704" y="1371600"/>
            <a:ext cx="2715768" cy="1170432"/>
          </a:xfrm>
          <a:prstGeom prst="roundRect">
            <a:avLst>
              <a:gd name="adj" fmla="val 6250"/>
            </a:avLst>
          </a:prstGeom>
          <a:solidFill>
            <a:srgbClr val="EEF2F8"/>
          </a:solidFill>
          <a:ln w="12700">
            <a:solidFill>
              <a:srgbClr val="D5DEEA"/>
            </a:solidFill>
            <a:prstDash val="solid"/>
          </a:ln>
        </p:spPr>
      </p:sp>
      <p:sp>
        <p:nvSpPr>
          <p:cNvPr id="14" name="Shape 11"/>
          <p:cNvSpPr/>
          <p:nvPr/>
        </p:nvSpPr>
        <p:spPr>
          <a:xfrm>
            <a:off x="3511296" y="1517904"/>
            <a:ext cx="384048" cy="384048"/>
          </a:xfrm>
          <a:prstGeom prst="ellipse">
            <a:avLst/>
          </a:prstGeom>
          <a:solidFill>
            <a:srgbClr val="1C7293"/>
          </a:solidFill>
          <a:ln w="12700">
            <a:solidFill>
              <a:srgbClr val="1C7293"/>
            </a:solidFill>
            <a:prstDash val="solid"/>
          </a:ln>
        </p:spPr>
      </p:sp>
      <p:sp>
        <p:nvSpPr>
          <p:cNvPr id="15" name="Text 12"/>
          <p:cNvSpPr/>
          <p:nvPr/>
        </p:nvSpPr>
        <p:spPr>
          <a:xfrm>
            <a:off x="3511296" y="15179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3986784" y="1481328"/>
            <a:ext cx="1965960" cy="292608"/>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Avoidance</a:t>
            </a:r>
            <a:endParaRPr lang="en-US" sz="1250" dirty="0"/>
          </a:p>
        </p:txBody>
      </p:sp>
      <p:sp>
        <p:nvSpPr>
          <p:cNvPr id="17" name="Text 14"/>
          <p:cNvSpPr/>
          <p:nvPr/>
        </p:nvSpPr>
        <p:spPr>
          <a:xfrm>
            <a:off x="3511296" y="1920240"/>
            <a:ext cx="2395728" cy="548640"/>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Grant a request only if the state stays safe</a:t>
            </a:r>
            <a:endParaRPr lang="en-US" sz="1050" dirty="0"/>
          </a:p>
        </p:txBody>
      </p:sp>
      <p:sp>
        <p:nvSpPr>
          <p:cNvPr id="18" name="Shape 15"/>
          <p:cNvSpPr/>
          <p:nvPr/>
        </p:nvSpPr>
        <p:spPr>
          <a:xfrm>
            <a:off x="6236208" y="1371600"/>
            <a:ext cx="2715768" cy="1170432"/>
          </a:xfrm>
          <a:prstGeom prst="roundRect">
            <a:avLst>
              <a:gd name="adj" fmla="val 6250"/>
            </a:avLst>
          </a:prstGeom>
          <a:solidFill>
            <a:srgbClr val="EEF2F8"/>
          </a:solidFill>
          <a:ln w="12700">
            <a:solidFill>
              <a:srgbClr val="D5DEEA"/>
            </a:solidFill>
            <a:prstDash val="solid"/>
          </a:ln>
        </p:spPr>
      </p:sp>
      <p:sp>
        <p:nvSpPr>
          <p:cNvPr id="19" name="Shape 16"/>
          <p:cNvSpPr/>
          <p:nvPr/>
        </p:nvSpPr>
        <p:spPr>
          <a:xfrm>
            <a:off x="6400800" y="1517904"/>
            <a:ext cx="384048" cy="384048"/>
          </a:xfrm>
          <a:prstGeom prst="ellipse">
            <a:avLst/>
          </a:prstGeom>
          <a:solidFill>
            <a:srgbClr val="E8A33D"/>
          </a:solidFill>
          <a:ln w="12700">
            <a:solidFill>
              <a:srgbClr val="E8A33D"/>
            </a:solidFill>
            <a:prstDash val="solid"/>
          </a:ln>
        </p:spPr>
      </p:sp>
      <p:sp>
        <p:nvSpPr>
          <p:cNvPr id="20" name="Text 17"/>
          <p:cNvSpPr/>
          <p:nvPr/>
        </p:nvSpPr>
        <p:spPr>
          <a:xfrm>
            <a:off x="6400800" y="15179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8"/>
          <p:cNvSpPr/>
          <p:nvPr/>
        </p:nvSpPr>
        <p:spPr>
          <a:xfrm>
            <a:off x="6876288" y="1481328"/>
            <a:ext cx="1965960" cy="292608"/>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Detection + Recovery</a:t>
            </a:r>
            <a:endParaRPr lang="en-US" sz="1250" dirty="0"/>
          </a:p>
        </p:txBody>
      </p:sp>
      <p:sp>
        <p:nvSpPr>
          <p:cNvPr id="22" name="Text 19"/>
          <p:cNvSpPr/>
          <p:nvPr/>
        </p:nvSpPr>
        <p:spPr>
          <a:xfrm>
            <a:off x="6400800" y="1920240"/>
            <a:ext cx="2395728" cy="548640"/>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Allow deadlock, find it, then break it</a:t>
            </a:r>
            <a:endParaRPr lang="en-US" sz="1050" dirty="0"/>
          </a:p>
        </p:txBody>
      </p:sp>
      <p:sp>
        <p:nvSpPr>
          <p:cNvPr id="23" name="Shape 20"/>
          <p:cNvSpPr/>
          <p:nvPr/>
        </p:nvSpPr>
        <p:spPr>
          <a:xfrm>
            <a:off x="9125712" y="1371600"/>
            <a:ext cx="2715768" cy="1170432"/>
          </a:xfrm>
          <a:prstGeom prst="roundRect">
            <a:avLst>
              <a:gd name="adj" fmla="val 6250"/>
            </a:avLst>
          </a:prstGeom>
          <a:solidFill>
            <a:srgbClr val="F4F5F7"/>
          </a:solidFill>
          <a:ln w="12700">
            <a:solidFill>
              <a:srgbClr val="D5DEEA"/>
            </a:solidFill>
            <a:prstDash val="solid"/>
          </a:ln>
        </p:spPr>
      </p:sp>
      <p:sp>
        <p:nvSpPr>
          <p:cNvPr id="24" name="Shape 21"/>
          <p:cNvSpPr/>
          <p:nvPr/>
        </p:nvSpPr>
        <p:spPr>
          <a:xfrm>
            <a:off x="9290304" y="1517904"/>
            <a:ext cx="384048" cy="384048"/>
          </a:xfrm>
          <a:prstGeom prst="ellipse">
            <a:avLst/>
          </a:prstGeom>
          <a:solidFill>
            <a:srgbClr val="6B7280"/>
          </a:solidFill>
          <a:ln w="12700">
            <a:solidFill>
              <a:srgbClr val="6B7280"/>
            </a:solidFill>
            <a:prstDash val="solid"/>
          </a:ln>
        </p:spPr>
      </p:sp>
      <p:sp>
        <p:nvSpPr>
          <p:cNvPr id="25" name="Text 22"/>
          <p:cNvSpPr/>
          <p:nvPr/>
        </p:nvSpPr>
        <p:spPr>
          <a:xfrm>
            <a:off x="9290304" y="15179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3"/>
          <p:cNvSpPr/>
          <p:nvPr/>
        </p:nvSpPr>
        <p:spPr>
          <a:xfrm>
            <a:off x="9765792" y="1481328"/>
            <a:ext cx="1965960" cy="292608"/>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Ignore it</a:t>
            </a:r>
            <a:endParaRPr lang="en-US" sz="1250" dirty="0"/>
          </a:p>
        </p:txBody>
      </p:sp>
      <p:sp>
        <p:nvSpPr>
          <p:cNvPr id="27" name="Text 24"/>
          <p:cNvSpPr/>
          <p:nvPr/>
        </p:nvSpPr>
        <p:spPr>
          <a:xfrm>
            <a:off x="9290304" y="1920240"/>
            <a:ext cx="2395728" cy="548640"/>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Restart the system - the ostrich algorithm</a:t>
            </a:r>
            <a:endParaRPr lang="en-US" sz="1050" dirty="0"/>
          </a:p>
        </p:txBody>
      </p:sp>
      <p:sp>
        <p:nvSpPr>
          <p:cNvPr id="28" name="Text 25"/>
          <p:cNvSpPr/>
          <p:nvPr/>
        </p:nvSpPr>
        <p:spPr>
          <a:xfrm>
            <a:off x="457200" y="2724912"/>
            <a:ext cx="7315200" cy="292608"/>
          </a:xfrm>
          <a:prstGeom prst="rect">
            <a:avLst/>
          </a:prstGeom>
          <a:noFill/>
          <a:ln/>
        </p:spPr>
        <p:txBody>
          <a:bodyPr wrap="square" lIns="0" tIns="0" rIns="0" bIns="0" rtlCol="0" anchor="ctr"/>
          <a:lstStyle/>
          <a:p>
            <a:pPr marL="0" indent="0">
              <a:buNone/>
            </a:pPr>
            <a:r>
              <a:rPr lang="en-US" sz="1400" b="1" dirty="0">
                <a:solidFill>
                  <a:srgbClr val="18244F"/>
                </a:solidFill>
                <a:latin typeface="Calibri" pitchFamily="34" charset="0"/>
                <a:ea typeface="Calibri" pitchFamily="34" charset="-122"/>
                <a:cs typeface="Calibri" pitchFamily="34" charset="-120"/>
              </a:rPr>
              <a:t>Deadlock prevention - deny one of the four necessary conditions</a:t>
            </a:r>
            <a:endParaRPr lang="en-US" sz="1400" dirty="0"/>
          </a:p>
        </p:txBody>
      </p:sp>
      <p:sp>
        <p:nvSpPr>
          <p:cNvPr id="29" name="Shape 26"/>
          <p:cNvSpPr/>
          <p:nvPr/>
        </p:nvSpPr>
        <p:spPr>
          <a:xfrm>
            <a:off x="457200" y="3090672"/>
            <a:ext cx="11274552" cy="475488"/>
          </a:xfrm>
          <a:prstGeom prst="rect">
            <a:avLst/>
          </a:prstGeom>
          <a:solidFill>
            <a:srgbClr val="18244F"/>
          </a:solidFill>
          <a:ln w="9525">
            <a:solidFill>
              <a:srgbClr val="D5DEEA"/>
            </a:solidFill>
            <a:prstDash val="solid"/>
          </a:ln>
        </p:spPr>
      </p:sp>
      <p:sp>
        <p:nvSpPr>
          <p:cNvPr id="30" name="Text 27"/>
          <p:cNvSpPr/>
          <p:nvPr/>
        </p:nvSpPr>
        <p:spPr>
          <a:xfrm>
            <a:off x="566928" y="3090672"/>
            <a:ext cx="2260945" cy="47548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Condition</a:t>
            </a:r>
            <a:endParaRPr lang="en-US" sz="1100" dirty="0"/>
          </a:p>
        </p:txBody>
      </p:sp>
      <p:sp>
        <p:nvSpPr>
          <p:cNvPr id="31" name="Text 28"/>
          <p:cNvSpPr/>
          <p:nvPr/>
        </p:nvSpPr>
        <p:spPr>
          <a:xfrm>
            <a:off x="3047329" y="3090672"/>
            <a:ext cx="4515856" cy="47548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How it is denied</a:t>
            </a:r>
            <a:endParaRPr lang="en-US" sz="1100" dirty="0"/>
          </a:p>
        </p:txBody>
      </p:sp>
      <p:sp>
        <p:nvSpPr>
          <p:cNvPr id="32" name="Text 29"/>
          <p:cNvSpPr/>
          <p:nvPr/>
        </p:nvSpPr>
        <p:spPr>
          <a:xfrm>
            <a:off x="7782641" y="3090672"/>
            <a:ext cx="3839383" cy="47548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Practical difficulty</a:t>
            </a:r>
            <a:endParaRPr lang="en-US" sz="1100" dirty="0"/>
          </a:p>
        </p:txBody>
      </p:sp>
      <p:sp>
        <p:nvSpPr>
          <p:cNvPr id="33" name="Shape 30"/>
          <p:cNvSpPr/>
          <p:nvPr/>
        </p:nvSpPr>
        <p:spPr>
          <a:xfrm>
            <a:off x="457200" y="3566160"/>
            <a:ext cx="11274552" cy="475488"/>
          </a:xfrm>
          <a:prstGeom prst="rect">
            <a:avLst/>
          </a:prstGeom>
          <a:solidFill>
            <a:srgbClr val="FFFFFF"/>
          </a:solidFill>
          <a:ln w="9525">
            <a:solidFill>
              <a:srgbClr val="D5DEEA"/>
            </a:solidFill>
            <a:prstDash val="solid"/>
          </a:ln>
        </p:spPr>
      </p:sp>
      <p:sp>
        <p:nvSpPr>
          <p:cNvPr id="34" name="Text 31"/>
          <p:cNvSpPr/>
          <p:nvPr/>
        </p:nvSpPr>
        <p:spPr>
          <a:xfrm>
            <a:off x="566928" y="3566160"/>
            <a:ext cx="2260945" cy="475488"/>
          </a:xfrm>
          <a:prstGeom prst="rect">
            <a:avLst/>
          </a:prstGeom>
          <a:noFill/>
          <a:ln/>
        </p:spPr>
        <p:txBody>
          <a:bodyPr wrap="square" lIns="0" tIns="0" rIns="0" bIns="0" rtlCol="0" anchor="ctr"/>
          <a:lstStyle/>
          <a:p>
            <a:pPr marL="0" indent="0" algn="l">
              <a:buNone/>
            </a:pPr>
            <a:r>
              <a:rPr lang="en-US" sz="1100" b="1" dirty="0">
                <a:solidFill>
                  <a:srgbClr val="18244F"/>
                </a:solidFill>
                <a:latin typeface="Calibri" pitchFamily="34" charset="0"/>
                <a:ea typeface="Calibri" pitchFamily="34" charset="-122"/>
                <a:cs typeface="Calibri" pitchFamily="34" charset="-120"/>
              </a:rPr>
              <a:t>Mutual exclusion</a:t>
            </a:r>
            <a:endParaRPr lang="en-US" sz="1100" dirty="0"/>
          </a:p>
        </p:txBody>
      </p:sp>
      <p:sp>
        <p:nvSpPr>
          <p:cNvPr id="35" name="Text 32"/>
          <p:cNvSpPr/>
          <p:nvPr/>
        </p:nvSpPr>
        <p:spPr>
          <a:xfrm>
            <a:off x="3047329" y="3566160"/>
            <a:ext cx="4515856" cy="475488"/>
          </a:xfrm>
          <a:prstGeom prst="rect">
            <a:avLst/>
          </a:prstGeom>
          <a:noFill/>
          <a:ln/>
        </p:spPr>
        <p:txBody>
          <a:bodyPr wrap="square" lIns="0" tIns="0" rIns="0" bIns="0" rtlCol="0" anchor="ctr"/>
          <a:lstStyle/>
          <a:p>
            <a:pPr marL="0" indent="0" algn="l">
              <a:buNone/>
            </a:pPr>
            <a:r>
              <a:rPr lang="en-US" sz="1100" dirty="0">
                <a:solidFill>
                  <a:srgbClr val="5A6273"/>
                </a:solidFill>
                <a:latin typeface="Calibri" pitchFamily="34" charset="0"/>
                <a:ea typeface="Calibri" pitchFamily="34" charset="-122"/>
                <a:cs typeface="Calibri" pitchFamily="34" charset="-120"/>
              </a:rPr>
              <a:t>Make resources sharable, e.g. spool the printer</a:t>
            </a:r>
            <a:endParaRPr lang="en-US" sz="1100" dirty="0"/>
          </a:p>
        </p:txBody>
      </p:sp>
      <p:sp>
        <p:nvSpPr>
          <p:cNvPr id="36" name="Text 33"/>
          <p:cNvSpPr/>
          <p:nvPr/>
        </p:nvSpPr>
        <p:spPr>
          <a:xfrm>
            <a:off x="7782641" y="3566160"/>
            <a:ext cx="3839383" cy="475488"/>
          </a:xfrm>
          <a:prstGeom prst="rect">
            <a:avLst/>
          </a:prstGeom>
          <a:noFill/>
          <a:ln/>
        </p:spPr>
        <p:txBody>
          <a:bodyPr wrap="square" lIns="0" tIns="0" rIns="0" bIns="0" rtlCol="0" anchor="ctr"/>
          <a:lstStyle/>
          <a:p>
            <a:pPr marL="0" indent="0" algn="l">
              <a:buNone/>
            </a:pPr>
            <a:r>
              <a:rPr lang="en-US" sz="1100" dirty="0">
                <a:solidFill>
                  <a:srgbClr val="5A6273"/>
                </a:solidFill>
                <a:latin typeface="Calibri" pitchFamily="34" charset="0"/>
                <a:ea typeface="Calibri" pitchFamily="34" charset="-122"/>
                <a:cs typeface="Calibri" pitchFamily="34" charset="-120"/>
              </a:rPr>
              <a:t>Impossible for inherently non-sharable devices</a:t>
            </a:r>
            <a:endParaRPr lang="en-US" sz="1100" dirty="0"/>
          </a:p>
        </p:txBody>
      </p:sp>
      <p:sp>
        <p:nvSpPr>
          <p:cNvPr id="37" name="Shape 34"/>
          <p:cNvSpPr/>
          <p:nvPr/>
        </p:nvSpPr>
        <p:spPr>
          <a:xfrm>
            <a:off x="457200" y="4041648"/>
            <a:ext cx="11274552" cy="475488"/>
          </a:xfrm>
          <a:prstGeom prst="rect">
            <a:avLst/>
          </a:prstGeom>
          <a:solidFill>
            <a:srgbClr val="EEF2F8"/>
          </a:solidFill>
          <a:ln w="9525">
            <a:solidFill>
              <a:srgbClr val="D5DEEA"/>
            </a:solidFill>
            <a:prstDash val="solid"/>
          </a:ln>
        </p:spPr>
      </p:sp>
      <p:sp>
        <p:nvSpPr>
          <p:cNvPr id="38" name="Text 35"/>
          <p:cNvSpPr/>
          <p:nvPr/>
        </p:nvSpPr>
        <p:spPr>
          <a:xfrm>
            <a:off x="566928" y="4041648"/>
            <a:ext cx="2260945" cy="475488"/>
          </a:xfrm>
          <a:prstGeom prst="rect">
            <a:avLst/>
          </a:prstGeom>
          <a:noFill/>
          <a:ln/>
        </p:spPr>
        <p:txBody>
          <a:bodyPr wrap="square" lIns="0" tIns="0" rIns="0" bIns="0" rtlCol="0" anchor="ctr"/>
          <a:lstStyle/>
          <a:p>
            <a:pPr marL="0" indent="0" algn="l">
              <a:buNone/>
            </a:pPr>
            <a:r>
              <a:rPr lang="en-US" sz="1100" b="1" dirty="0">
                <a:solidFill>
                  <a:srgbClr val="18244F"/>
                </a:solidFill>
                <a:latin typeface="Calibri" pitchFamily="34" charset="0"/>
                <a:ea typeface="Calibri" pitchFamily="34" charset="-122"/>
                <a:cs typeface="Calibri" pitchFamily="34" charset="-120"/>
              </a:rPr>
              <a:t>Hold and wait</a:t>
            </a:r>
            <a:endParaRPr lang="en-US" sz="1100" dirty="0"/>
          </a:p>
        </p:txBody>
      </p:sp>
      <p:sp>
        <p:nvSpPr>
          <p:cNvPr id="39" name="Text 36"/>
          <p:cNvSpPr/>
          <p:nvPr/>
        </p:nvSpPr>
        <p:spPr>
          <a:xfrm>
            <a:off x="3047329" y="4041648"/>
            <a:ext cx="4515856" cy="475488"/>
          </a:xfrm>
          <a:prstGeom prst="rect">
            <a:avLst/>
          </a:prstGeom>
          <a:noFill/>
          <a:ln/>
        </p:spPr>
        <p:txBody>
          <a:bodyPr wrap="square" lIns="0" tIns="0" rIns="0" bIns="0" rtlCol="0" anchor="ctr"/>
          <a:lstStyle/>
          <a:p>
            <a:pPr marL="0" indent="0" algn="l">
              <a:buNone/>
            </a:pPr>
            <a:r>
              <a:rPr lang="en-US" sz="1100" dirty="0">
                <a:solidFill>
                  <a:srgbClr val="5A6273"/>
                </a:solidFill>
                <a:latin typeface="Calibri" pitchFamily="34" charset="0"/>
                <a:ea typeface="Calibri" pitchFamily="34" charset="-122"/>
                <a:cs typeface="Calibri" pitchFamily="34" charset="-120"/>
              </a:rPr>
              <a:t>Request all resources at once, before execution starts</a:t>
            </a:r>
            <a:endParaRPr lang="en-US" sz="1100" dirty="0"/>
          </a:p>
        </p:txBody>
      </p:sp>
      <p:sp>
        <p:nvSpPr>
          <p:cNvPr id="40" name="Text 37"/>
          <p:cNvSpPr/>
          <p:nvPr/>
        </p:nvSpPr>
        <p:spPr>
          <a:xfrm>
            <a:off x="7782641" y="4041648"/>
            <a:ext cx="3839383" cy="475488"/>
          </a:xfrm>
          <a:prstGeom prst="rect">
            <a:avLst/>
          </a:prstGeom>
          <a:noFill/>
          <a:ln/>
        </p:spPr>
        <p:txBody>
          <a:bodyPr wrap="square" lIns="0" tIns="0" rIns="0" bIns="0" rtlCol="0" anchor="ctr"/>
          <a:lstStyle/>
          <a:p>
            <a:pPr marL="0" indent="0" algn="l">
              <a:buNone/>
            </a:pPr>
            <a:r>
              <a:rPr lang="en-US" sz="1100" dirty="0">
                <a:solidFill>
                  <a:srgbClr val="5A6273"/>
                </a:solidFill>
                <a:latin typeface="Calibri" pitchFamily="34" charset="0"/>
                <a:ea typeface="Calibri" pitchFamily="34" charset="-122"/>
                <a:cs typeface="Calibri" pitchFamily="34" charset="-120"/>
              </a:rPr>
              <a:t>Low resource utilisation; possible starvation</a:t>
            </a:r>
            <a:endParaRPr lang="en-US" sz="1100" dirty="0"/>
          </a:p>
        </p:txBody>
      </p:sp>
      <p:sp>
        <p:nvSpPr>
          <p:cNvPr id="41" name="Shape 38"/>
          <p:cNvSpPr/>
          <p:nvPr/>
        </p:nvSpPr>
        <p:spPr>
          <a:xfrm>
            <a:off x="457200" y="4517136"/>
            <a:ext cx="11274552" cy="475488"/>
          </a:xfrm>
          <a:prstGeom prst="rect">
            <a:avLst/>
          </a:prstGeom>
          <a:solidFill>
            <a:srgbClr val="FFFFFF"/>
          </a:solidFill>
          <a:ln w="9525">
            <a:solidFill>
              <a:srgbClr val="D5DEEA"/>
            </a:solidFill>
            <a:prstDash val="solid"/>
          </a:ln>
        </p:spPr>
      </p:sp>
      <p:sp>
        <p:nvSpPr>
          <p:cNvPr id="42" name="Text 39"/>
          <p:cNvSpPr/>
          <p:nvPr/>
        </p:nvSpPr>
        <p:spPr>
          <a:xfrm>
            <a:off x="566928" y="4517136"/>
            <a:ext cx="2260945" cy="475488"/>
          </a:xfrm>
          <a:prstGeom prst="rect">
            <a:avLst/>
          </a:prstGeom>
          <a:noFill/>
          <a:ln/>
        </p:spPr>
        <p:txBody>
          <a:bodyPr wrap="square" lIns="0" tIns="0" rIns="0" bIns="0" rtlCol="0" anchor="ctr"/>
          <a:lstStyle/>
          <a:p>
            <a:pPr marL="0" indent="0" algn="l">
              <a:buNone/>
            </a:pPr>
            <a:r>
              <a:rPr lang="en-US" sz="1100" b="1" dirty="0">
                <a:solidFill>
                  <a:srgbClr val="18244F"/>
                </a:solidFill>
                <a:latin typeface="Calibri" pitchFamily="34" charset="0"/>
                <a:ea typeface="Calibri" pitchFamily="34" charset="-122"/>
                <a:cs typeface="Calibri" pitchFamily="34" charset="-120"/>
              </a:rPr>
              <a:t>No preemption</a:t>
            </a:r>
            <a:endParaRPr lang="en-US" sz="1100" dirty="0"/>
          </a:p>
        </p:txBody>
      </p:sp>
      <p:sp>
        <p:nvSpPr>
          <p:cNvPr id="43" name="Text 40"/>
          <p:cNvSpPr/>
          <p:nvPr/>
        </p:nvSpPr>
        <p:spPr>
          <a:xfrm>
            <a:off x="3047329" y="4517136"/>
            <a:ext cx="4515856" cy="475488"/>
          </a:xfrm>
          <a:prstGeom prst="rect">
            <a:avLst/>
          </a:prstGeom>
          <a:noFill/>
          <a:ln/>
        </p:spPr>
        <p:txBody>
          <a:bodyPr wrap="square" lIns="0" tIns="0" rIns="0" bIns="0" rtlCol="0" anchor="ctr"/>
          <a:lstStyle/>
          <a:p>
            <a:pPr marL="0" indent="0" algn="l">
              <a:buNone/>
            </a:pPr>
            <a:r>
              <a:rPr lang="en-US" sz="1100" dirty="0">
                <a:solidFill>
                  <a:srgbClr val="5A6273"/>
                </a:solidFill>
                <a:latin typeface="Calibri" pitchFamily="34" charset="0"/>
                <a:ea typeface="Calibri" pitchFamily="34" charset="-122"/>
                <a:cs typeface="Calibri" pitchFamily="34" charset="-120"/>
              </a:rPr>
              <a:t>Preempt held resources when a further request fails</a:t>
            </a:r>
            <a:endParaRPr lang="en-US" sz="1100" dirty="0"/>
          </a:p>
        </p:txBody>
      </p:sp>
      <p:sp>
        <p:nvSpPr>
          <p:cNvPr id="44" name="Text 41"/>
          <p:cNvSpPr/>
          <p:nvPr/>
        </p:nvSpPr>
        <p:spPr>
          <a:xfrm>
            <a:off x="7782641" y="4517136"/>
            <a:ext cx="3839383" cy="475488"/>
          </a:xfrm>
          <a:prstGeom prst="rect">
            <a:avLst/>
          </a:prstGeom>
          <a:noFill/>
          <a:ln/>
        </p:spPr>
        <p:txBody>
          <a:bodyPr wrap="square" lIns="0" tIns="0" rIns="0" bIns="0" rtlCol="0" anchor="ctr"/>
          <a:lstStyle/>
          <a:p>
            <a:pPr marL="0" indent="0" algn="l">
              <a:buNone/>
            </a:pPr>
            <a:r>
              <a:rPr lang="en-US" sz="1100" dirty="0">
                <a:solidFill>
                  <a:srgbClr val="5A6273"/>
                </a:solidFill>
                <a:latin typeface="Calibri" pitchFamily="34" charset="0"/>
                <a:ea typeface="Calibri" pitchFamily="34" charset="-122"/>
                <a:cs typeface="Calibri" pitchFamily="34" charset="-120"/>
              </a:rPr>
              <a:t>Only for resources whose state can be saved</a:t>
            </a:r>
            <a:endParaRPr lang="en-US" sz="1100" dirty="0"/>
          </a:p>
        </p:txBody>
      </p:sp>
      <p:sp>
        <p:nvSpPr>
          <p:cNvPr id="45" name="Shape 42"/>
          <p:cNvSpPr/>
          <p:nvPr/>
        </p:nvSpPr>
        <p:spPr>
          <a:xfrm>
            <a:off x="457200" y="4992624"/>
            <a:ext cx="11274552" cy="475488"/>
          </a:xfrm>
          <a:prstGeom prst="rect">
            <a:avLst/>
          </a:prstGeom>
          <a:solidFill>
            <a:srgbClr val="FDF0DA"/>
          </a:solidFill>
          <a:ln w="19050">
            <a:solidFill>
              <a:srgbClr val="E8A33D"/>
            </a:solidFill>
            <a:prstDash val="solid"/>
          </a:ln>
        </p:spPr>
      </p:sp>
      <p:sp>
        <p:nvSpPr>
          <p:cNvPr id="46" name="Text 43"/>
          <p:cNvSpPr/>
          <p:nvPr/>
        </p:nvSpPr>
        <p:spPr>
          <a:xfrm>
            <a:off x="566928" y="4992624"/>
            <a:ext cx="2260945" cy="475488"/>
          </a:xfrm>
          <a:prstGeom prst="rect">
            <a:avLst/>
          </a:prstGeom>
          <a:noFill/>
          <a:ln/>
        </p:spPr>
        <p:txBody>
          <a:bodyPr wrap="square" lIns="0" tIns="0" rIns="0" bIns="0" rtlCol="0" anchor="ctr"/>
          <a:lstStyle/>
          <a:p>
            <a:pPr marL="0" indent="0" algn="l">
              <a:buNone/>
            </a:pPr>
            <a:r>
              <a:rPr lang="en-US" sz="1100" b="1" dirty="0">
                <a:solidFill>
                  <a:srgbClr val="9A6A12"/>
                </a:solidFill>
                <a:latin typeface="Calibri" pitchFamily="34" charset="0"/>
                <a:ea typeface="Calibri" pitchFamily="34" charset="-122"/>
                <a:cs typeface="Calibri" pitchFamily="34" charset="-120"/>
              </a:rPr>
              <a:t>Circular wait</a:t>
            </a:r>
            <a:endParaRPr lang="en-US" sz="1100" dirty="0"/>
          </a:p>
        </p:txBody>
      </p:sp>
      <p:sp>
        <p:nvSpPr>
          <p:cNvPr id="47" name="Text 44"/>
          <p:cNvSpPr/>
          <p:nvPr/>
        </p:nvSpPr>
        <p:spPr>
          <a:xfrm>
            <a:off x="3047329" y="4992624"/>
            <a:ext cx="4515856" cy="475488"/>
          </a:xfrm>
          <a:prstGeom prst="rect">
            <a:avLst/>
          </a:prstGeom>
          <a:noFill/>
          <a:ln/>
        </p:spPr>
        <p:txBody>
          <a:bodyPr wrap="square" lIns="0" tIns="0" rIns="0" bIns="0" rtlCol="0" anchor="ctr"/>
          <a:lstStyle/>
          <a:p>
            <a:pPr marL="0" indent="0" algn="l">
              <a:buNone/>
            </a:pPr>
            <a:r>
              <a:rPr lang="en-US" sz="1100" b="1" dirty="0">
                <a:solidFill>
                  <a:srgbClr val="9A6A12"/>
                </a:solidFill>
                <a:latin typeface="Calibri" pitchFamily="34" charset="0"/>
                <a:ea typeface="Calibri" pitchFamily="34" charset="-122"/>
                <a:cs typeface="Calibri" pitchFamily="34" charset="-120"/>
              </a:rPr>
              <a:t>Impose a total ordering; request resources in that order</a:t>
            </a:r>
            <a:endParaRPr lang="en-US" sz="1100" dirty="0"/>
          </a:p>
        </p:txBody>
      </p:sp>
      <p:sp>
        <p:nvSpPr>
          <p:cNvPr id="48" name="Text 45"/>
          <p:cNvSpPr/>
          <p:nvPr/>
        </p:nvSpPr>
        <p:spPr>
          <a:xfrm>
            <a:off x="7782641" y="4992624"/>
            <a:ext cx="3839383" cy="475488"/>
          </a:xfrm>
          <a:prstGeom prst="rect">
            <a:avLst/>
          </a:prstGeom>
          <a:noFill/>
          <a:ln/>
        </p:spPr>
        <p:txBody>
          <a:bodyPr wrap="square" lIns="0" tIns="0" rIns="0" bIns="0" rtlCol="0" anchor="ctr"/>
          <a:lstStyle/>
          <a:p>
            <a:pPr marL="0" indent="0" algn="l">
              <a:buNone/>
            </a:pPr>
            <a:r>
              <a:rPr lang="en-US" sz="1100" b="1" dirty="0">
                <a:solidFill>
                  <a:srgbClr val="9A6A12"/>
                </a:solidFill>
                <a:latin typeface="Calibri" pitchFamily="34" charset="0"/>
                <a:ea typeface="Calibri" pitchFamily="34" charset="-122"/>
                <a:cs typeface="Calibri" pitchFamily="34" charset="-120"/>
              </a:rPr>
              <a:t>Ordering is rigid and hard to maintain in large systems</a:t>
            </a:r>
            <a:endParaRPr lang="en-US" sz="1100" dirty="0"/>
          </a:p>
        </p:txBody>
      </p:sp>
      <p:sp>
        <p:nvSpPr>
          <p:cNvPr id="49" name="Shape 46"/>
          <p:cNvSpPr/>
          <p:nvPr/>
        </p:nvSpPr>
        <p:spPr>
          <a:xfrm>
            <a:off x="457200" y="5577840"/>
            <a:ext cx="11274552" cy="566928"/>
          </a:xfrm>
          <a:prstGeom prst="roundRect">
            <a:avLst>
              <a:gd name="adj" fmla="val 12903"/>
            </a:avLst>
          </a:prstGeom>
          <a:solidFill>
            <a:srgbClr val="EAF2F6"/>
          </a:solidFill>
          <a:ln w="12700">
            <a:solidFill>
              <a:srgbClr val="BFD8E2"/>
            </a:solidFill>
            <a:prstDash val="solid"/>
          </a:ln>
        </p:spPr>
      </p:sp>
      <p:sp>
        <p:nvSpPr>
          <p:cNvPr id="50" name="Text 47"/>
          <p:cNvSpPr/>
          <p:nvPr/>
        </p:nvSpPr>
        <p:spPr>
          <a:xfrm>
            <a:off x="658368" y="5596128"/>
            <a:ext cx="10881360" cy="530352"/>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Trade-off:  </a:t>
            </a:r>
            <a:r>
              <a:rPr lang="en-US" sz="1150" dirty="0">
                <a:solidFill>
                  <a:srgbClr val="5A6273"/>
                </a:solidFill>
                <a:latin typeface="Calibri" pitchFamily="34" charset="0"/>
                <a:ea typeface="Calibri" pitchFamily="34" charset="-122"/>
                <a:cs typeface="Calibri" pitchFamily="34" charset="-120"/>
              </a:rPr>
              <a:t>prevention is simple and needs no run-time checking, but it is conservative - devices stay idle and throughput falls. Ordering the resources (denying circular wait) is the most practical of the four.</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625328" y="274320"/>
            <a:ext cx="1143000" cy="261518"/>
          </a:xfrm>
          <a:prstGeom prst="rect">
            <a:avLst/>
          </a:prstGeom>
        </p:spPr>
      </p:pic>
      <p:sp>
        <p:nvSpPr>
          <p:cNvPr id="3" name="Text 0"/>
          <p:cNvSpPr/>
          <p:nvPr/>
        </p:nvSpPr>
        <p:spPr>
          <a:xfrm>
            <a:off x="457200" y="6355080"/>
            <a:ext cx="3383280" cy="274320"/>
          </a:xfrm>
          <a:prstGeom prst="rect">
            <a:avLst/>
          </a:prstGeom>
          <a:noFill/>
          <a:ln/>
        </p:spPr>
        <p:txBody>
          <a:bodyPr wrap="square" lIns="0" tIns="0" rIns="0" bIns="0" rtlCol="0" anchor="ctr"/>
          <a:lstStyle/>
          <a:p>
            <a:pPr marL="0" indent="0" algn="l">
              <a:buNone/>
            </a:pPr>
            <a:r>
              <a:rPr lang="en-US" sz="900" dirty="0">
                <a:solidFill>
                  <a:srgbClr val="9AA4B8"/>
                </a:solidFill>
                <a:latin typeface="Calibri" pitchFamily="34" charset="0"/>
                <a:ea typeface="Calibri" pitchFamily="34" charset="-122"/>
                <a:cs typeface="Calibri" pitchFamily="34" charset="-120"/>
              </a:rPr>
              <a:t>Computer Organization and Architecture (IT5301)</a:t>
            </a:r>
            <a:endParaRPr lang="en-US" sz="900" dirty="0"/>
          </a:p>
        </p:txBody>
      </p:sp>
      <p:sp>
        <p:nvSpPr>
          <p:cNvPr id="4" name="Text 1"/>
          <p:cNvSpPr/>
          <p:nvPr/>
        </p:nvSpPr>
        <p:spPr>
          <a:xfrm>
            <a:off x="3931920" y="6355080"/>
            <a:ext cx="4572000" cy="274320"/>
          </a:xfrm>
          <a:prstGeom prst="rect">
            <a:avLst/>
          </a:prstGeom>
          <a:noFill/>
          <a:ln/>
        </p:spPr>
        <p:txBody>
          <a:bodyPr wrap="square" lIns="0" tIns="0" rIns="0" bIns="0" rtlCol="0" anchor="ctr"/>
          <a:lstStyle/>
          <a:p>
            <a:pPr marL="0" indent="0" algn="ctr">
              <a:buNone/>
            </a:pPr>
            <a:r>
              <a:rPr lang="en-US" sz="900" dirty="0">
                <a:solidFill>
                  <a:srgbClr val="9AA4B8"/>
                </a:solidFill>
                <a:latin typeface="Calibri" pitchFamily="34" charset="0"/>
                <a:ea typeface="Calibri" pitchFamily="34" charset="-122"/>
                <a:cs typeface="Calibri" pitchFamily="34" charset="-120"/>
              </a:rPr>
              <a:t>Deadlock - Prevention, Avoidance, Detection and Recovery</a:t>
            </a:r>
            <a:endParaRPr lang="en-US" sz="900" dirty="0"/>
          </a:p>
        </p:txBody>
      </p:sp>
      <p:sp>
        <p:nvSpPr>
          <p:cNvPr id="5" name="Text 2"/>
          <p:cNvSpPr/>
          <p:nvPr/>
        </p:nvSpPr>
        <p:spPr>
          <a:xfrm>
            <a:off x="8595360" y="6355080"/>
            <a:ext cx="3136392" cy="274320"/>
          </a:xfrm>
          <a:prstGeom prst="rect">
            <a:avLst/>
          </a:prstGeom>
          <a:noFill/>
          <a:ln/>
        </p:spPr>
        <p:txBody>
          <a:bodyPr wrap="square" lIns="0" tIns="0" rIns="0" bIns="0" rtlCol="0" anchor="ctr"/>
          <a:lstStyle/>
          <a:p>
            <a:pPr marL="0" indent="0" algn="r">
              <a:buNone/>
            </a:pPr>
            <a:r>
              <a:rPr lang="en-US" sz="900" dirty="0">
                <a:solidFill>
                  <a:srgbClr val="9AA4B8"/>
                </a:solidFill>
                <a:latin typeface="Calibri" pitchFamily="34" charset="0"/>
                <a:ea typeface="Calibri" pitchFamily="34" charset="-122"/>
                <a:cs typeface="Calibri" pitchFamily="34" charset="-120"/>
              </a:rPr>
              <a:t>B.Tech IT  |  Chennai Institute of Technology  |  4</a:t>
            </a:r>
            <a:endParaRPr lang="en-US" sz="900" dirty="0"/>
          </a:p>
        </p:txBody>
      </p:sp>
      <p:sp>
        <p:nvSpPr>
          <p:cNvPr id="6" name="Text 3"/>
          <p:cNvSpPr/>
          <p:nvPr/>
        </p:nvSpPr>
        <p:spPr>
          <a:xfrm>
            <a:off x="457200" y="274320"/>
            <a:ext cx="9966960" cy="566928"/>
          </a:xfrm>
          <a:prstGeom prst="rect">
            <a:avLst/>
          </a:prstGeom>
          <a:noFill/>
          <a:ln/>
        </p:spPr>
        <p:txBody>
          <a:bodyPr wrap="square" lIns="0" tIns="0" rIns="0" bIns="0" rtlCol="0" anchor="ctr"/>
          <a:lstStyle/>
          <a:p>
            <a:pPr marL="0" indent="0">
              <a:buNone/>
            </a:pPr>
            <a:r>
              <a:rPr lang="en-US" sz="3200" b="1" dirty="0">
                <a:solidFill>
                  <a:srgbClr val="18244F"/>
                </a:solidFill>
                <a:latin typeface="Cambria" pitchFamily="34" charset="0"/>
                <a:ea typeface="Cambria" pitchFamily="34" charset="-122"/>
                <a:cs typeface="Cambria" pitchFamily="34" charset="-120"/>
              </a:rPr>
              <a:t>Deadlock Avoidance  |  Banker's Algorithm</a:t>
            </a:r>
            <a:endParaRPr lang="en-US" sz="3200" dirty="0"/>
          </a:p>
        </p:txBody>
      </p:sp>
      <p:sp>
        <p:nvSpPr>
          <p:cNvPr id="7" name="Text 4"/>
          <p:cNvSpPr/>
          <p:nvPr/>
        </p:nvSpPr>
        <p:spPr>
          <a:xfrm>
            <a:off x="457200" y="868680"/>
            <a:ext cx="10241280" cy="310896"/>
          </a:xfrm>
          <a:prstGeom prst="rect">
            <a:avLst/>
          </a:prstGeom>
          <a:noFill/>
          <a:ln/>
        </p:spPr>
        <p:txBody>
          <a:bodyPr wrap="square" lIns="0" tIns="0" rIns="0" bIns="0" rtlCol="0" anchor="ctr"/>
          <a:lstStyle/>
          <a:p>
            <a:pPr marL="0" indent="0">
              <a:buNone/>
            </a:pPr>
            <a:r>
              <a:rPr lang="en-US" sz="1350" dirty="0">
                <a:solidFill>
                  <a:srgbClr val="5A6273"/>
                </a:solidFill>
                <a:latin typeface="Calibri" pitchFamily="34" charset="0"/>
                <a:ea typeface="Calibri" pitchFamily="34" charset="-122"/>
                <a:cs typeface="Calibri" pitchFamily="34" charset="-120"/>
              </a:rPr>
              <a:t>The system knows each process's maximum need in advance and grants a request only if the resulting state is still safe.</a:t>
            </a:r>
            <a:endParaRPr lang="en-US" sz="1350" dirty="0"/>
          </a:p>
        </p:txBody>
      </p:sp>
      <p:sp>
        <p:nvSpPr>
          <p:cNvPr id="8" name="Text 5"/>
          <p:cNvSpPr/>
          <p:nvPr/>
        </p:nvSpPr>
        <p:spPr>
          <a:xfrm>
            <a:off x="457200" y="1371600"/>
            <a:ext cx="6400800" cy="256032"/>
          </a:xfrm>
          <a:prstGeom prst="rect">
            <a:avLst/>
          </a:prstGeom>
          <a:noFill/>
          <a:ln/>
        </p:spPr>
        <p:txBody>
          <a:bodyPr wrap="square" lIns="0" tIns="0" rIns="0" bIns="0" rtlCol="0" anchor="ctr"/>
          <a:lstStyle/>
          <a:p>
            <a:pPr marL="0" indent="0">
              <a:buNone/>
            </a:pPr>
            <a:r>
              <a:rPr lang="en-US" sz="1200" b="1" dirty="0">
                <a:solidFill>
                  <a:srgbClr val="18244F"/>
                </a:solidFill>
                <a:latin typeface="Calibri" pitchFamily="34" charset="0"/>
                <a:ea typeface="Calibri" pitchFamily="34" charset="-122"/>
                <a:cs typeface="Calibri" pitchFamily="34" charset="-120"/>
              </a:rPr>
              <a:t>Banker's algorithm - snapshot with 3 resource types  A B C</a:t>
            </a:r>
            <a:endParaRPr lang="en-US" sz="1200" dirty="0"/>
          </a:p>
        </p:txBody>
      </p:sp>
      <p:sp>
        <p:nvSpPr>
          <p:cNvPr id="9" name="Shape 6"/>
          <p:cNvSpPr/>
          <p:nvPr/>
        </p:nvSpPr>
        <p:spPr>
          <a:xfrm>
            <a:off x="457200" y="1691640"/>
            <a:ext cx="6400800" cy="420624"/>
          </a:xfrm>
          <a:prstGeom prst="rect">
            <a:avLst/>
          </a:prstGeom>
          <a:solidFill>
            <a:srgbClr val="18244F"/>
          </a:solidFill>
          <a:ln w="9525">
            <a:solidFill>
              <a:srgbClr val="D5DEEA"/>
            </a:solidFill>
            <a:prstDash val="solid"/>
          </a:ln>
        </p:spPr>
      </p:sp>
      <p:sp>
        <p:nvSpPr>
          <p:cNvPr id="10" name="Text 7"/>
          <p:cNvSpPr/>
          <p:nvPr/>
        </p:nvSpPr>
        <p:spPr>
          <a:xfrm>
            <a:off x="566928" y="1691640"/>
            <a:ext cx="1060704" cy="420624"/>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Process</a:t>
            </a:r>
            <a:endParaRPr lang="en-US" sz="1050" dirty="0"/>
          </a:p>
        </p:txBody>
      </p:sp>
      <p:sp>
        <p:nvSpPr>
          <p:cNvPr id="11" name="Text 8"/>
          <p:cNvSpPr/>
          <p:nvPr/>
        </p:nvSpPr>
        <p:spPr>
          <a:xfrm>
            <a:off x="1847088" y="1691640"/>
            <a:ext cx="1316736" cy="42062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Allocation</a:t>
            </a:r>
            <a:endParaRPr lang="en-US" sz="1050" dirty="0"/>
          </a:p>
        </p:txBody>
      </p:sp>
      <p:sp>
        <p:nvSpPr>
          <p:cNvPr id="12" name="Text 9"/>
          <p:cNvSpPr/>
          <p:nvPr/>
        </p:nvSpPr>
        <p:spPr>
          <a:xfrm>
            <a:off x="3383280" y="1691640"/>
            <a:ext cx="1188720" cy="42062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Max</a:t>
            </a:r>
            <a:endParaRPr lang="en-US" sz="1050" dirty="0"/>
          </a:p>
        </p:txBody>
      </p:sp>
      <p:sp>
        <p:nvSpPr>
          <p:cNvPr id="13" name="Text 10"/>
          <p:cNvSpPr/>
          <p:nvPr/>
        </p:nvSpPr>
        <p:spPr>
          <a:xfrm>
            <a:off x="4791456" y="1691640"/>
            <a:ext cx="1956816" cy="42062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Need = Max - Alloc</a:t>
            </a:r>
            <a:endParaRPr lang="en-US" sz="1050" dirty="0"/>
          </a:p>
        </p:txBody>
      </p:sp>
      <p:sp>
        <p:nvSpPr>
          <p:cNvPr id="14" name="Shape 11"/>
          <p:cNvSpPr/>
          <p:nvPr/>
        </p:nvSpPr>
        <p:spPr>
          <a:xfrm>
            <a:off x="457200" y="2112264"/>
            <a:ext cx="6400800" cy="420624"/>
          </a:xfrm>
          <a:prstGeom prst="rect">
            <a:avLst/>
          </a:prstGeom>
          <a:solidFill>
            <a:srgbClr val="FFFFFF"/>
          </a:solidFill>
          <a:ln w="9525">
            <a:solidFill>
              <a:srgbClr val="D5DEEA"/>
            </a:solidFill>
            <a:prstDash val="solid"/>
          </a:ln>
        </p:spPr>
      </p:sp>
      <p:sp>
        <p:nvSpPr>
          <p:cNvPr id="15" name="Text 12"/>
          <p:cNvSpPr/>
          <p:nvPr/>
        </p:nvSpPr>
        <p:spPr>
          <a:xfrm>
            <a:off x="566928" y="2112264"/>
            <a:ext cx="1060704" cy="420624"/>
          </a:xfrm>
          <a:prstGeom prst="rect">
            <a:avLst/>
          </a:prstGeom>
          <a:noFill/>
          <a:ln/>
        </p:spPr>
        <p:txBody>
          <a:bodyPr wrap="square" lIns="0" tIns="0" rIns="0" bIns="0" rtlCol="0" anchor="ctr"/>
          <a:lstStyle/>
          <a:p>
            <a:pPr marL="0" indent="0" algn="l">
              <a:buNone/>
            </a:pPr>
            <a:r>
              <a:rPr lang="en-US" sz="1100" b="1" dirty="0">
                <a:solidFill>
                  <a:srgbClr val="18244F"/>
                </a:solidFill>
                <a:latin typeface="Calibri" pitchFamily="34" charset="0"/>
                <a:ea typeface="Calibri" pitchFamily="34" charset="-122"/>
                <a:cs typeface="Calibri" pitchFamily="34" charset="-120"/>
              </a:rPr>
              <a:t>P0</a:t>
            </a:r>
            <a:endParaRPr lang="en-US" sz="1100" dirty="0"/>
          </a:p>
        </p:txBody>
      </p:sp>
      <p:sp>
        <p:nvSpPr>
          <p:cNvPr id="16" name="Text 13"/>
          <p:cNvSpPr/>
          <p:nvPr/>
        </p:nvSpPr>
        <p:spPr>
          <a:xfrm>
            <a:off x="1847088" y="2112264"/>
            <a:ext cx="1316736"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0 1 0</a:t>
            </a:r>
            <a:endParaRPr lang="en-US" sz="1100" dirty="0"/>
          </a:p>
        </p:txBody>
      </p:sp>
      <p:sp>
        <p:nvSpPr>
          <p:cNvPr id="17" name="Text 14"/>
          <p:cNvSpPr/>
          <p:nvPr/>
        </p:nvSpPr>
        <p:spPr>
          <a:xfrm>
            <a:off x="3383280" y="2112264"/>
            <a:ext cx="1188720"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7 5 3</a:t>
            </a:r>
            <a:endParaRPr lang="en-US" sz="1100" dirty="0"/>
          </a:p>
        </p:txBody>
      </p:sp>
      <p:sp>
        <p:nvSpPr>
          <p:cNvPr id="18" name="Text 15"/>
          <p:cNvSpPr/>
          <p:nvPr/>
        </p:nvSpPr>
        <p:spPr>
          <a:xfrm>
            <a:off x="4791456" y="2112264"/>
            <a:ext cx="1956816"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7 4 3</a:t>
            </a:r>
            <a:endParaRPr lang="en-US" sz="1100" dirty="0"/>
          </a:p>
        </p:txBody>
      </p:sp>
      <p:sp>
        <p:nvSpPr>
          <p:cNvPr id="19" name="Shape 16"/>
          <p:cNvSpPr/>
          <p:nvPr/>
        </p:nvSpPr>
        <p:spPr>
          <a:xfrm>
            <a:off x="457200" y="2532888"/>
            <a:ext cx="6400800" cy="420624"/>
          </a:xfrm>
          <a:prstGeom prst="rect">
            <a:avLst/>
          </a:prstGeom>
          <a:solidFill>
            <a:srgbClr val="EEF2F8"/>
          </a:solidFill>
          <a:ln w="9525">
            <a:solidFill>
              <a:srgbClr val="D5DEEA"/>
            </a:solidFill>
            <a:prstDash val="solid"/>
          </a:ln>
        </p:spPr>
      </p:sp>
      <p:sp>
        <p:nvSpPr>
          <p:cNvPr id="20" name="Text 17"/>
          <p:cNvSpPr/>
          <p:nvPr/>
        </p:nvSpPr>
        <p:spPr>
          <a:xfrm>
            <a:off x="566928" y="2532888"/>
            <a:ext cx="1060704" cy="420624"/>
          </a:xfrm>
          <a:prstGeom prst="rect">
            <a:avLst/>
          </a:prstGeom>
          <a:noFill/>
          <a:ln/>
        </p:spPr>
        <p:txBody>
          <a:bodyPr wrap="square" lIns="0" tIns="0" rIns="0" bIns="0" rtlCol="0" anchor="ctr"/>
          <a:lstStyle/>
          <a:p>
            <a:pPr marL="0" indent="0" algn="l">
              <a:buNone/>
            </a:pPr>
            <a:r>
              <a:rPr lang="en-US" sz="1100" b="1" dirty="0">
                <a:solidFill>
                  <a:srgbClr val="18244F"/>
                </a:solidFill>
                <a:latin typeface="Calibri" pitchFamily="34" charset="0"/>
                <a:ea typeface="Calibri" pitchFamily="34" charset="-122"/>
                <a:cs typeface="Calibri" pitchFamily="34" charset="-120"/>
              </a:rPr>
              <a:t>P1</a:t>
            </a:r>
            <a:endParaRPr lang="en-US" sz="1100" dirty="0"/>
          </a:p>
        </p:txBody>
      </p:sp>
      <p:sp>
        <p:nvSpPr>
          <p:cNvPr id="21" name="Text 18"/>
          <p:cNvSpPr/>
          <p:nvPr/>
        </p:nvSpPr>
        <p:spPr>
          <a:xfrm>
            <a:off x="1847088" y="2532888"/>
            <a:ext cx="1316736"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2 0 0</a:t>
            </a:r>
            <a:endParaRPr lang="en-US" sz="1100" dirty="0"/>
          </a:p>
        </p:txBody>
      </p:sp>
      <p:sp>
        <p:nvSpPr>
          <p:cNvPr id="22" name="Text 19"/>
          <p:cNvSpPr/>
          <p:nvPr/>
        </p:nvSpPr>
        <p:spPr>
          <a:xfrm>
            <a:off x="3383280" y="2532888"/>
            <a:ext cx="1188720"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3 2 2</a:t>
            </a:r>
            <a:endParaRPr lang="en-US" sz="1100" dirty="0"/>
          </a:p>
        </p:txBody>
      </p:sp>
      <p:sp>
        <p:nvSpPr>
          <p:cNvPr id="23" name="Text 20"/>
          <p:cNvSpPr/>
          <p:nvPr/>
        </p:nvSpPr>
        <p:spPr>
          <a:xfrm>
            <a:off x="4791456" y="2532888"/>
            <a:ext cx="1956816"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1 2 2</a:t>
            </a:r>
            <a:endParaRPr lang="en-US" sz="1100" dirty="0"/>
          </a:p>
        </p:txBody>
      </p:sp>
      <p:sp>
        <p:nvSpPr>
          <p:cNvPr id="24" name="Shape 21"/>
          <p:cNvSpPr/>
          <p:nvPr/>
        </p:nvSpPr>
        <p:spPr>
          <a:xfrm>
            <a:off x="457200" y="2953512"/>
            <a:ext cx="6400800" cy="420624"/>
          </a:xfrm>
          <a:prstGeom prst="rect">
            <a:avLst/>
          </a:prstGeom>
          <a:solidFill>
            <a:srgbClr val="FFFFFF"/>
          </a:solidFill>
          <a:ln w="9525">
            <a:solidFill>
              <a:srgbClr val="D5DEEA"/>
            </a:solidFill>
            <a:prstDash val="solid"/>
          </a:ln>
        </p:spPr>
      </p:sp>
      <p:sp>
        <p:nvSpPr>
          <p:cNvPr id="25" name="Text 22"/>
          <p:cNvSpPr/>
          <p:nvPr/>
        </p:nvSpPr>
        <p:spPr>
          <a:xfrm>
            <a:off x="566928" y="2953512"/>
            <a:ext cx="1060704" cy="420624"/>
          </a:xfrm>
          <a:prstGeom prst="rect">
            <a:avLst/>
          </a:prstGeom>
          <a:noFill/>
          <a:ln/>
        </p:spPr>
        <p:txBody>
          <a:bodyPr wrap="square" lIns="0" tIns="0" rIns="0" bIns="0" rtlCol="0" anchor="ctr"/>
          <a:lstStyle/>
          <a:p>
            <a:pPr marL="0" indent="0" algn="l">
              <a:buNone/>
            </a:pPr>
            <a:r>
              <a:rPr lang="en-US" sz="1100" b="1" dirty="0">
                <a:solidFill>
                  <a:srgbClr val="18244F"/>
                </a:solidFill>
                <a:latin typeface="Calibri" pitchFamily="34" charset="0"/>
                <a:ea typeface="Calibri" pitchFamily="34" charset="-122"/>
                <a:cs typeface="Calibri" pitchFamily="34" charset="-120"/>
              </a:rPr>
              <a:t>P2</a:t>
            </a:r>
            <a:endParaRPr lang="en-US" sz="1100" dirty="0"/>
          </a:p>
        </p:txBody>
      </p:sp>
      <p:sp>
        <p:nvSpPr>
          <p:cNvPr id="26" name="Text 23"/>
          <p:cNvSpPr/>
          <p:nvPr/>
        </p:nvSpPr>
        <p:spPr>
          <a:xfrm>
            <a:off x="1847088" y="2953512"/>
            <a:ext cx="1316736"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3 0 2</a:t>
            </a:r>
            <a:endParaRPr lang="en-US" sz="1100" dirty="0"/>
          </a:p>
        </p:txBody>
      </p:sp>
      <p:sp>
        <p:nvSpPr>
          <p:cNvPr id="27" name="Text 24"/>
          <p:cNvSpPr/>
          <p:nvPr/>
        </p:nvSpPr>
        <p:spPr>
          <a:xfrm>
            <a:off x="3383280" y="2953512"/>
            <a:ext cx="1188720"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9 0 2</a:t>
            </a:r>
            <a:endParaRPr lang="en-US" sz="1100" dirty="0"/>
          </a:p>
        </p:txBody>
      </p:sp>
      <p:sp>
        <p:nvSpPr>
          <p:cNvPr id="28" name="Text 25"/>
          <p:cNvSpPr/>
          <p:nvPr/>
        </p:nvSpPr>
        <p:spPr>
          <a:xfrm>
            <a:off x="4791456" y="2953512"/>
            <a:ext cx="1956816"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6 0 0</a:t>
            </a:r>
            <a:endParaRPr lang="en-US" sz="1100" dirty="0"/>
          </a:p>
        </p:txBody>
      </p:sp>
      <p:sp>
        <p:nvSpPr>
          <p:cNvPr id="29" name="Shape 26"/>
          <p:cNvSpPr/>
          <p:nvPr/>
        </p:nvSpPr>
        <p:spPr>
          <a:xfrm>
            <a:off x="457200" y="3374136"/>
            <a:ext cx="6400800" cy="420624"/>
          </a:xfrm>
          <a:prstGeom prst="rect">
            <a:avLst/>
          </a:prstGeom>
          <a:solidFill>
            <a:srgbClr val="EEF2F8"/>
          </a:solidFill>
          <a:ln w="9525">
            <a:solidFill>
              <a:srgbClr val="D5DEEA"/>
            </a:solidFill>
            <a:prstDash val="solid"/>
          </a:ln>
        </p:spPr>
      </p:sp>
      <p:sp>
        <p:nvSpPr>
          <p:cNvPr id="30" name="Text 27"/>
          <p:cNvSpPr/>
          <p:nvPr/>
        </p:nvSpPr>
        <p:spPr>
          <a:xfrm>
            <a:off x="566928" y="3374136"/>
            <a:ext cx="1060704" cy="420624"/>
          </a:xfrm>
          <a:prstGeom prst="rect">
            <a:avLst/>
          </a:prstGeom>
          <a:noFill/>
          <a:ln/>
        </p:spPr>
        <p:txBody>
          <a:bodyPr wrap="square" lIns="0" tIns="0" rIns="0" bIns="0" rtlCol="0" anchor="ctr"/>
          <a:lstStyle/>
          <a:p>
            <a:pPr marL="0" indent="0" algn="l">
              <a:buNone/>
            </a:pPr>
            <a:r>
              <a:rPr lang="en-US" sz="1100" b="1" dirty="0">
                <a:solidFill>
                  <a:srgbClr val="18244F"/>
                </a:solidFill>
                <a:latin typeface="Calibri" pitchFamily="34" charset="0"/>
                <a:ea typeface="Calibri" pitchFamily="34" charset="-122"/>
                <a:cs typeface="Calibri" pitchFamily="34" charset="-120"/>
              </a:rPr>
              <a:t>P3</a:t>
            </a:r>
            <a:endParaRPr lang="en-US" sz="1100" dirty="0"/>
          </a:p>
        </p:txBody>
      </p:sp>
      <p:sp>
        <p:nvSpPr>
          <p:cNvPr id="31" name="Text 28"/>
          <p:cNvSpPr/>
          <p:nvPr/>
        </p:nvSpPr>
        <p:spPr>
          <a:xfrm>
            <a:off x="1847088" y="3374136"/>
            <a:ext cx="1316736"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2 1 1</a:t>
            </a:r>
            <a:endParaRPr lang="en-US" sz="1100" dirty="0"/>
          </a:p>
        </p:txBody>
      </p:sp>
      <p:sp>
        <p:nvSpPr>
          <p:cNvPr id="32" name="Text 29"/>
          <p:cNvSpPr/>
          <p:nvPr/>
        </p:nvSpPr>
        <p:spPr>
          <a:xfrm>
            <a:off x="3383280" y="3374136"/>
            <a:ext cx="1188720"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2 2 2</a:t>
            </a:r>
            <a:endParaRPr lang="en-US" sz="1100" dirty="0"/>
          </a:p>
        </p:txBody>
      </p:sp>
      <p:sp>
        <p:nvSpPr>
          <p:cNvPr id="33" name="Text 30"/>
          <p:cNvSpPr/>
          <p:nvPr/>
        </p:nvSpPr>
        <p:spPr>
          <a:xfrm>
            <a:off x="4791456" y="3374136"/>
            <a:ext cx="1956816"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0 1 1</a:t>
            </a:r>
            <a:endParaRPr lang="en-US" sz="1100" dirty="0"/>
          </a:p>
        </p:txBody>
      </p:sp>
      <p:sp>
        <p:nvSpPr>
          <p:cNvPr id="34" name="Shape 31"/>
          <p:cNvSpPr/>
          <p:nvPr/>
        </p:nvSpPr>
        <p:spPr>
          <a:xfrm>
            <a:off x="457200" y="3794760"/>
            <a:ext cx="6400800" cy="420624"/>
          </a:xfrm>
          <a:prstGeom prst="rect">
            <a:avLst/>
          </a:prstGeom>
          <a:solidFill>
            <a:srgbClr val="FFFFFF"/>
          </a:solidFill>
          <a:ln w="9525">
            <a:solidFill>
              <a:srgbClr val="D5DEEA"/>
            </a:solidFill>
            <a:prstDash val="solid"/>
          </a:ln>
        </p:spPr>
      </p:sp>
      <p:sp>
        <p:nvSpPr>
          <p:cNvPr id="35" name="Text 32"/>
          <p:cNvSpPr/>
          <p:nvPr/>
        </p:nvSpPr>
        <p:spPr>
          <a:xfrm>
            <a:off x="566928" y="3794760"/>
            <a:ext cx="1060704" cy="420624"/>
          </a:xfrm>
          <a:prstGeom prst="rect">
            <a:avLst/>
          </a:prstGeom>
          <a:noFill/>
          <a:ln/>
        </p:spPr>
        <p:txBody>
          <a:bodyPr wrap="square" lIns="0" tIns="0" rIns="0" bIns="0" rtlCol="0" anchor="ctr"/>
          <a:lstStyle/>
          <a:p>
            <a:pPr marL="0" indent="0" algn="l">
              <a:buNone/>
            </a:pPr>
            <a:r>
              <a:rPr lang="en-US" sz="1100" b="1" dirty="0">
                <a:solidFill>
                  <a:srgbClr val="18244F"/>
                </a:solidFill>
                <a:latin typeface="Calibri" pitchFamily="34" charset="0"/>
                <a:ea typeface="Calibri" pitchFamily="34" charset="-122"/>
                <a:cs typeface="Calibri" pitchFamily="34" charset="-120"/>
              </a:rPr>
              <a:t>P4</a:t>
            </a:r>
            <a:endParaRPr lang="en-US" sz="1100" dirty="0"/>
          </a:p>
        </p:txBody>
      </p:sp>
      <p:sp>
        <p:nvSpPr>
          <p:cNvPr id="36" name="Text 33"/>
          <p:cNvSpPr/>
          <p:nvPr/>
        </p:nvSpPr>
        <p:spPr>
          <a:xfrm>
            <a:off x="1847088" y="3794760"/>
            <a:ext cx="1316736"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0 0 2</a:t>
            </a:r>
            <a:endParaRPr lang="en-US" sz="1100" dirty="0"/>
          </a:p>
        </p:txBody>
      </p:sp>
      <p:sp>
        <p:nvSpPr>
          <p:cNvPr id="37" name="Text 34"/>
          <p:cNvSpPr/>
          <p:nvPr/>
        </p:nvSpPr>
        <p:spPr>
          <a:xfrm>
            <a:off x="3383280" y="3794760"/>
            <a:ext cx="1188720"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4 3 3</a:t>
            </a:r>
            <a:endParaRPr lang="en-US" sz="1100" dirty="0"/>
          </a:p>
        </p:txBody>
      </p:sp>
      <p:sp>
        <p:nvSpPr>
          <p:cNvPr id="38" name="Text 35"/>
          <p:cNvSpPr/>
          <p:nvPr/>
        </p:nvSpPr>
        <p:spPr>
          <a:xfrm>
            <a:off x="4791456" y="3794760"/>
            <a:ext cx="1956816" cy="420624"/>
          </a:xfrm>
          <a:prstGeom prst="rect">
            <a:avLst/>
          </a:prstGeom>
          <a:noFill/>
          <a:ln/>
        </p:spPr>
        <p:txBody>
          <a:bodyPr wrap="square" lIns="0" tIns="0" rIns="0" bIns="0" rtlCol="0" anchor="ctr"/>
          <a:lstStyle/>
          <a:p>
            <a:pPr marL="0" indent="0" algn="ctr">
              <a:buNone/>
            </a:pPr>
            <a:r>
              <a:rPr lang="en-US" sz="1100" dirty="0">
                <a:solidFill>
                  <a:srgbClr val="5A6273"/>
                </a:solidFill>
                <a:latin typeface="Courier New" pitchFamily="34" charset="0"/>
                <a:ea typeface="Courier New" pitchFamily="34" charset="-122"/>
                <a:cs typeface="Courier New" pitchFamily="34" charset="-120"/>
              </a:rPr>
              <a:t>4 3 1</a:t>
            </a:r>
            <a:endParaRPr lang="en-US" sz="1100" dirty="0"/>
          </a:p>
        </p:txBody>
      </p:sp>
      <p:sp>
        <p:nvSpPr>
          <p:cNvPr id="39" name="Shape 36"/>
          <p:cNvSpPr/>
          <p:nvPr/>
        </p:nvSpPr>
        <p:spPr>
          <a:xfrm>
            <a:off x="457200" y="4343400"/>
            <a:ext cx="6400800" cy="658368"/>
          </a:xfrm>
          <a:prstGeom prst="roundRect">
            <a:avLst>
              <a:gd name="adj" fmla="val 11111"/>
            </a:avLst>
          </a:prstGeom>
          <a:solidFill>
            <a:srgbClr val="FDF0DA"/>
          </a:solidFill>
          <a:ln w="12700">
            <a:solidFill>
              <a:srgbClr val="E8A33D"/>
            </a:solidFill>
            <a:prstDash val="solid"/>
          </a:ln>
        </p:spPr>
      </p:sp>
      <p:sp>
        <p:nvSpPr>
          <p:cNvPr id="40" name="Text 37"/>
          <p:cNvSpPr/>
          <p:nvPr/>
        </p:nvSpPr>
        <p:spPr>
          <a:xfrm>
            <a:off x="658368" y="4343400"/>
            <a:ext cx="6035040" cy="658368"/>
          </a:xfrm>
          <a:prstGeom prst="rect">
            <a:avLst/>
          </a:prstGeom>
          <a:noFill/>
          <a:ln/>
        </p:spPr>
        <p:txBody>
          <a:bodyPr wrap="square" lIns="0" tIns="0" rIns="0" bIns="0" rtlCol="0" anchor="ctr"/>
          <a:lstStyle/>
          <a:p>
            <a:pPr marL="0" indent="0">
              <a:buNone/>
            </a:pPr>
            <a:r>
              <a:rPr lang="en-US" sz="1250" b="1" dirty="0">
                <a:solidFill>
                  <a:srgbClr val="9A6A12"/>
                </a:solidFill>
                <a:latin typeface="Calibri" pitchFamily="34" charset="0"/>
                <a:ea typeface="Calibri" pitchFamily="34" charset="-122"/>
                <a:cs typeface="Calibri" pitchFamily="34" charset="-120"/>
              </a:rPr>
              <a:t>Available = 3 3 2      Safe sequence:  </a:t>
            </a:r>
            <a:r>
              <a:rPr lang="en-US" sz="1250" b="1" dirty="0">
                <a:solidFill>
                  <a:srgbClr val="18244F"/>
                </a:solidFill>
                <a:latin typeface="Courier New" pitchFamily="34" charset="0"/>
                <a:ea typeface="Courier New" pitchFamily="34" charset="-122"/>
                <a:cs typeface="Courier New" pitchFamily="34" charset="-120"/>
              </a:rPr>
              <a:t>&lt; P1, P3, P4, P2, P0 &gt;</a:t>
            </a:r>
            <a:endParaRPr lang="en-US" sz="1250" dirty="0"/>
          </a:p>
        </p:txBody>
      </p:sp>
      <p:sp>
        <p:nvSpPr>
          <p:cNvPr id="41" name="Shape 38"/>
          <p:cNvSpPr/>
          <p:nvPr/>
        </p:nvSpPr>
        <p:spPr>
          <a:xfrm>
            <a:off x="457200" y="5138928"/>
            <a:ext cx="6400800" cy="786384"/>
          </a:xfrm>
          <a:prstGeom prst="roundRect">
            <a:avLst>
              <a:gd name="adj" fmla="val 9302"/>
            </a:avLst>
          </a:prstGeom>
          <a:solidFill>
            <a:srgbClr val="EEF2F8"/>
          </a:solidFill>
          <a:ln w="12700">
            <a:solidFill>
              <a:srgbClr val="D5DEEA"/>
            </a:solidFill>
            <a:prstDash val="solid"/>
          </a:ln>
        </p:spPr>
      </p:sp>
      <p:sp>
        <p:nvSpPr>
          <p:cNvPr id="42" name="Text 39"/>
          <p:cNvSpPr/>
          <p:nvPr/>
        </p:nvSpPr>
        <p:spPr>
          <a:xfrm>
            <a:off x="658368" y="5138928"/>
            <a:ext cx="6035040" cy="786384"/>
          </a:xfrm>
          <a:prstGeom prst="rect">
            <a:avLst/>
          </a:prstGeom>
          <a:noFill/>
          <a:ln/>
        </p:spPr>
        <p:txBody>
          <a:bodyPr wrap="square" lIns="0" tIns="0" rIns="0" bIns="0" rtlCol="0" anchor="ctr"/>
          <a:lstStyle/>
          <a:p>
            <a:pPr marL="0" indent="0">
              <a:buNone/>
            </a:pPr>
            <a:r>
              <a:rPr lang="en-US" sz="1150" dirty="0">
                <a:solidFill>
                  <a:srgbClr val="5A6273"/>
                </a:solidFill>
                <a:latin typeface="Calibri" pitchFamily="34" charset="0"/>
                <a:ea typeface="Calibri" pitchFamily="34" charset="-122"/>
                <a:cs typeface="Calibri" pitchFamily="34" charset="-120"/>
              </a:rPr>
              <a:t>Because P1's need (1 2 2) fits inside Available, P1 can finish and return its resources; the freed units then satisfy P3, and so on until every process completes. The state is therefore safe.</a:t>
            </a:r>
            <a:endParaRPr lang="en-US" sz="1150" dirty="0"/>
          </a:p>
        </p:txBody>
      </p:sp>
      <p:sp>
        <p:nvSpPr>
          <p:cNvPr id="43" name="Shape 40"/>
          <p:cNvSpPr/>
          <p:nvPr/>
        </p:nvSpPr>
        <p:spPr>
          <a:xfrm>
            <a:off x="7178040" y="1371600"/>
            <a:ext cx="4553712" cy="1024128"/>
          </a:xfrm>
          <a:prstGeom prst="roundRect">
            <a:avLst>
              <a:gd name="adj" fmla="val 7143"/>
            </a:avLst>
          </a:prstGeom>
          <a:solidFill>
            <a:srgbClr val="EEF2F8"/>
          </a:solidFill>
          <a:ln w="12700">
            <a:solidFill>
              <a:srgbClr val="D5DEEA"/>
            </a:solidFill>
            <a:prstDash val="solid"/>
          </a:ln>
        </p:spPr>
      </p:sp>
      <p:sp>
        <p:nvSpPr>
          <p:cNvPr id="44" name="Shape 41"/>
          <p:cNvSpPr/>
          <p:nvPr/>
        </p:nvSpPr>
        <p:spPr>
          <a:xfrm>
            <a:off x="7379208" y="1517904"/>
            <a:ext cx="329184" cy="329184"/>
          </a:xfrm>
          <a:prstGeom prst="ellipse">
            <a:avLst/>
          </a:prstGeom>
          <a:solidFill>
            <a:srgbClr val="1C7293"/>
          </a:solidFill>
          <a:ln w="12700">
            <a:solidFill>
              <a:srgbClr val="1C7293"/>
            </a:solidFill>
            <a:prstDash val="solid"/>
          </a:ln>
        </p:spPr>
      </p:sp>
      <p:sp>
        <p:nvSpPr>
          <p:cNvPr id="45" name="Text 42"/>
          <p:cNvSpPr/>
          <p:nvPr/>
        </p:nvSpPr>
        <p:spPr>
          <a:xfrm>
            <a:off x="7379208" y="151790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6" name="Text 43"/>
          <p:cNvSpPr/>
          <p:nvPr/>
        </p:nvSpPr>
        <p:spPr>
          <a:xfrm>
            <a:off x="7818120" y="1426464"/>
            <a:ext cx="3749040" cy="274320"/>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Safe state</a:t>
            </a:r>
            <a:endParaRPr lang="en-US" sz="1250" dirty="0"/>
          </a:p>
        </p:txBody>
      </p:sp>
      <p:sp>
        <p:nvSpPr>
          <p:cNvPr id="47" name="Text 44"/>
          <p:cNvSpPr/>
          <p:nvPr/>
        </p:nvSpPr>
        <p:spPr>
          <a:xfrm>
            <a:off x="7818120" y="1700784"/>
            <a:ext cx="3749040" cy="621792"/>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There exists an ordering of all processes in which each one can still obtain its maximum need and finish.</a:t>
            </a:r>
            <a:endParaRPr lang="en-US" sz="1050" dirty="0"/>
          </a:p>
        </p:txBody>
      </p:sp>
      <p:sp>
        <p:nvSpPr>
          <p:cNvPr id="48" name="Shape 45"/>
          <p:cNvSpPr/>
          <p:nvPr/>
        </p:nvSpPr>
        <p:spPr>
          <a:xfrm>
            <a:off x="7178040" y="2514600"/>
            <a:ext cx="4553712" cy="1024128"/>
          </a:xfrm>
          <a:prstGeom prst="roundRect">
            <a:avLst>
              <a:gd name="adj" fmla="val 7143"/>
            </a:avLst>
          </a:prstGeom>
          <a:solidFill>
            <a:srgbClr val="FDF0DA"/>
          </a:solidFill>
          <a:ln w="12700">
            <a:solidFill>
              <a:srgbClr val="E8A33D"/>
            </a:solidFill>
            <a:prstDash val="solid"/>
          </a:ln>
        </p:spPr>
      </p:sp>
      <p:sp>
        <p:nvSpPr>
          <p:cNvPr id="49" name="Shape 46"/>
          <p:cNvSpPr/>
          <p:nvPr/>
        </p:nvSpPr>
        <p:spPr>
          <a:xfrm>
            <a:off x="7379208" y="2660904"/>
            <a:ext cx="329184" cy="329184"/>
          </a:xfrm>
          <a:prstGeom prst="ellipse">
            <a:avLst/>
          </a:prstGeom>
          <a:solidFill>
            <a:srgbClr val="E8A33D"/>
          </a:solidFill>
          <a:ln w="12700">
            <a:solidFill>
              <a:srgbClr val="E8A33D"/>
            </a:solidFill>
            <a:prstDash val="solid"/>
          </a:ln>
        </p:spPr>
      </p:sp>
      <p:sp>
        <p:nvSpPr>
          <p:cNvPr id="50" name="Text 47"/>
          <p:cNvSpPr/>
          <p:nvPr/>
        </p:nvSpPr>
        <p:spPr>
          <a:xfrm>
            <a:off x="7379208" y="266090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1" name="Text 48"/>
          <p:cNvSpPr/>
          <p:nvPr/>
        </p:nvSpPr>
        <p:spPr>
          <a:xfrm>
            <a:off x="7818120" y="2569464"/>
            <a:ext cx="3749040" cy="274320"/>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Unsafe is not deadlock</a:t>
            </a:r>
            <a:endParaRPr lang="en-US" sz="1250" dirty="0"/>
          </a:p>
        </p:txBody>
      </p:sp>
      <p:sp>
        <p:nvSpPr>
          <p:cNvPr id="52" name="Text 49"/>
          <p:cNvSpPr/>
          <p:nvPr/>
        </p:nvSpPr>
        <p:spPr>
          <a:xfrm>
            <a:off x="7818120" y="2843784"/>
            <a:ext cx="3749040" cy="621792"/>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An unsafe state only means deadlock is possible - avoidance simply refuses to enter it.</a:t>
            </a:r>
            <a:endParaRPr lang="en-US" sz="1050" dirty="0"/>
          </a:p>
        </p:txBody>
      </p:sp>
      <p:sp>
        <p:nvSpPr>
          <p:cNvPr id="53" name="Shape 50"/>
          <p:cNvSpPr/>
          <p:nvPr/>
        </p:nvSpPr>
        <p:spPr>
          <a:xfrm>
            <a:off x="7178040" y="3657600"/>
            <a:ext cx="4553712" cy="1024128"/>
          </a:xfrm>
          <a:prstGeom prst="roundRect">
            <a:avLst>
              <a:gd name="adj" fmla="val 7143"/>
            </a:avLst>
          </a:prstGeom>
          <a:solidFill>
            <a:srgbClr val="EEF2F8"/>
          </a:solidFill>
          <a:ln w="12700">
            <a:solidFill>
              <a:srgbClr val="D5DEEA"/>
            </a:solidFill>
            <a:prstDash val="solid"/>
          </a:ln>
        </p:spPr>
      </p:sp>
      <p:sp>
        <p:nvSpPr>
          <p:cNvPr id="54" name="Shape 51"/>
          <p:cNvSpPr/>
          <p:nvPr/>
        </p:nvSpPr>
        <p:spPr>
          <a:xfrm>
            <a:off x="7379208" y="3803904"/>
            <a:ext cx="329184" cy="329184"/>
          </a:xfrm>
          <a:prstGeom prst="ellipse">
            <a:avLst/>
          </a:prstGeom>
          <a:solidFill>
            <a:srgbClr val="18244F"/>
          </a:solidFill>
          <a:ln w="12700">
            <a:solidFill>
              <a:srgbClr val="18244F"/>
            </a:solidFill>
            <a:prstDash val="solid"/>
          </a:ln>
        </p:spPr>
      </p:sp>
      <p:sp>
        <p:nvSpPr>
          <p:cNvPr id="55" name="Text 52"/>
          <p:cNvSpPr/>
          <p:nvPr/>
        </p:nvSpPr>
        <p:spPr>
          <a:xfrm>
            <a:off x="7379208" y="380390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6" name="Text 53"/>
          <p:cNvSpPr/>
          <p:nvPr/>
        </p:nvSpPr>
        <p:spPr>
          <a:xfrm>
            <a:off x="7818120" y="3712464"/>
            <a:ext cx="3749040" cy="274320"/>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Request algorithm</a:t>
            </a:r>
            <a:endParaRPr lang="en-US" sz="1250" dirty="0"/>
          </a:p>
        </p:txBody>
      </p:sp>
      <p:sp>
        <p:nvSpPr>
          <p:cNvPr id="57" name="Text 54"/>
          <p:cNvSpPr/>
          <p:nvPr/>
        </p:nvSpPr>
        <p:spPr>
          <a:xfrm>
            <a:off x="7818120" y="3986784"/>
            <a:ext cx="3749040" cy="621792"/>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Pretend to allocate, run the safety check; if the state is safe grant it, otherwise the process waits.</a:t>
            </a:r>
            <a:endParaRPr lang="en-US" sz="1050" dirty="0"/>
          </a:p>
        </p:txBody>
      </p:sp>
      <p:sp>
        <p:nvSpPr>
          <p:cNvPr id="58" name="Shape 55"/>
          <p:cNvSpPr/>
          <p:nvPr/>
        </p:nvSpPr>
        <p:spPr>
          <a:xfrm>
            <a:off x="7178040" y="4800600"/>
            <a:ext cx="4553712" cy="1024128"/>
          </a:xfrm>
          <a:prstGeom prst="roundRect">
            <a:avLst>
              <a:gd name="adj" fmla="val 7143"/>
            </a:avLst>
          </a:prstGeom>
          <a:solidFill>
            <a:srgbClr val="EEF2F8"/>
          </a:solidFill>
          <a:ln w="12700">
            <a:solidFill>
              <a:srgbClr val="D5DEEA"/>
            </a:solidFill>
            <a:prstDash val="solid"/>
          </a:ln>
        </p:spPr>
      </p:sp>
      <p:sp>
        <p:nvSpPr>
          <p:cNvPr id="59" name="Shape 56"/>
          <p:cNvSpPr/>
          <p:nvPr/>
        </p:nvSpPr>
        <p:spPr>
          <a:xfrm>
            <a:off x="7379208" y="4946904"/>
            <a:ext cx="329184" cy="329184"/>
          </a:xfrm>
          <a:prstGeom prst="ellipse">
            <a:avLst/>
          </a:prstGeom>
          <a:solidFill>
            <a:srgbClr val="18244F"/>
          </a:solidFill>
          <a:ln w="12700">
            <a:solidFill>
              <a:srgbClr val="18244F"/>
            </a:solidFill>
            <a:prstDash val="solid"/>
          </a:ln>
        </p:spPr>
      </p:sp>
      <p:sp>
        <p:nvSpPr>
          <p:cNvPr id="60" name="Text 57"/>
          <p:cNvSpPr/>
          <p:nvPr/>
        </p:nvSpPr>
        <p:spPr>
          <a:xfrm>
            <a:off x="7379208" y="494690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61" name="Text 58"/>
          <p:cNvSpPr/>
          <p:nvPr/>
        </p:nvSpPr>
        <p:spPr>
          <a:xfrm>
            <a:off x="7818120" y="4855464"/>
            <a:ext cx="3749040" cy="274320"/>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Cost</a:t>
            </a:r>
            <a:endParaRPr lang="en-US" sz="1250" dirty="0"/>
          </a:p>
        </p:txBody>
      </p:sp>
      <p:sp>
        <p:nvSpPr>
          <p:cNvPr id="62" name="Text 59"/>
          <p:cNvSpPr/>
          <p:nvPr/>
        </p:nvSpPr>
        <p:spPr>
          <a:xfrm>
            <a:off x="7818120" y="5129784"/>
            <a:ext cx="3749040" cy="621792"/>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Needs maximum demands declared in advance and a safety check on every request - O(m x n2).</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625328" y="274320"/>
            <a:ext cx="1143000" cy="261518"/>
          </a:xfrm>
          <a:prstGeom prst="rect">
            <a:avLst/>
          </a:prstGeom>
        </p:spPr>
      </p:pic>
      <p:sp>
        <p:nvSpPr>
          <p:cNvPr id="3" name="Text 0"/>
          <p:cNvSpPr/>
          <p:nvPr/>
        </p:nvSpPr>
        <p:spPr>
          <a:xfrm>
            <a:off x="457200" y="6355080"/>
            <a:ext cx="3383280" cy="274320"/>
          </a:xfrm>
          <a:prstGeom prst="rect">
            <a:avLst/>
          </a:prstGeom>
          <a:noFill/>
          <a:ln/>
        </p:spPr>
        <p:txBody>
          <a:bodyPr wrap="square" lIns="0" tIns="0" rIns="0" bIns="0" rtlCol="0" anchor="ctr"/>
          <a:lstStyle/>
          <a:p>
            <a:pPr marL="0" indent="0" algn="l">
              <a:buNone/>
            </a:pPr>
            <a:r>
              <a:rPr lang="en-US" sz="900" dirty="0">
                <a:solidFill>
                  <a:srgbClr val="9AA4B8"/>
                </a:solidFill>
                <a:latin typeface="Calibri" pitchFamily="34" charset="0"/>
                <a:ea typeface="Calibri" pitchFamily="34" charset="-122"/>
                <a:cs typeface="Calibri" pitchFamily="34" charset="-120"/>
              </a:rPr>
              <a:t>Computer Organization and Architecture (IT5301)</a:t>
            </a:r>
            <a:endParaRPr lang="en-US" sz="900" dirty="0"/>
          </a:p>
        </p:txBody>
      </p:sp>
      <p:sp>
        <p:nvSpPr>
          <p:cNvPr id="4" name="Text 1"/>
          <p:cNvSpPr/>
          <p:nvPr/>
        </p:nvSpPr>
        <p:spPr>
          <a:xfrm>
            <a:off x="3931920" y="6355080"/>
            <a:ext cx="4572000" cy="274320"/>
          </a:xfrm>
          <a:prstGeom prst="rect">
            <a:avLst/>
          </a:prstGeom>
          <a:noFill/>
          <a:ln/>
        </p:spPr>
        <p:txBody>
          <a:bodyPr wrap="square" lIns="0" tIns="0" rIns="0" bIns="0" rtlCol="0" anchor="ctr"/>
          <a:lstStyle/>
          <a:p>
            <a:pPr marL="0" indent="0" algn="ctr">
              <a:buNone/>
            </a:pPr>
            <a:r>
              <a:rPr lang="en-US" sz="900" dirty="0">
                <a:solidFill>
                  <a:srgbClr val="9AA4B8"/>
                </a:solidFill>
                <a:latin typeface="Calibri" pitchFamily="34" charset="0"/>
                <a:ea typeface="Calibri" pitchFamily="34" charset="-122"/>
                <a:cs typeface="Calibri" pitchFamily="34" charset="-120"/>
              </a:rPr>
              <a:t>Deadlock - Prevention, Avoidance, Detection and Recovery</a:t>
            </a:r>
            <a:endParaRPr lang="en-US" sz="900" dirty="0"/>
          </a:p>
        </p:txBody>
      </p:sp>
      <p:sp>
        <p:nvSpPr>
          <p:cNvPr id="5" name="Text 2"/>
          <p:cNvSpPr/>
          <p:nvPr/>
        </p:nvSpPr>
        <p:spPr>
          <a:xfrm>
            <a:off x="8595360" y="6355080"/>
            <a:ext cx="3136392" cy="274320"/>
          </a:xfrm>
          <a:prstGeom prst="rect">
            <a:avLst/>
          </a:prstGeom>
          <a:noFill/>
          <a:ln/>
        </p:spPr>
        <p:txBody>
          <a:bodyPr wrap="square" lIns="0" tIns="0" rIns="0" bIns="0" rtlCol="0" anchor="ctr"/>
          <a:lstStyle/>
          <a:p>
            <a:pPr marL="0" indent="0" algn="r">
              <a:buNone/>
            </a:pPr>
            <a:r>
              <a:rPr lang="en-US" sz="900" dirty="0">
                <a:solidFill>
                  <a:srgbClr val="9AA4B8"/>
                </a:solidFill>
                <a:latin typeface="Calibri" pitchFamily="34" charset="0"/>
                <a:ea typeface="Calibri" pitchFamily="34" charset="-122"/>
                <a:cs typeface="Calibri" pitchFamily="34" charset="-120"/>
              </a:rPr>
              <a:t>B.Tech IT  |  Chennai Institute of Technology  |  5</a:t>
            </a:r>
            <a:endParaRPr lang="en-US" sz="900" dirty="0"/>
          </a:p>
        </p:txBody>
      </p:sp>
      <p:sp>
        <p:nvSpPr>
          <p:cNvPr id="6" name="Text 3"/>
          <p:cNvSpPr/>
          <p:nvPr/>
        </p:nvSpPr>
        <p:spPr>
          <a:xfrm>
            <a:off x="457200" y="274320"/>
            <a:ext cx="9966960" cy="566928"/>
          </a:xfrm>
          <a:prstGeom prst="rect">
            <a:avLst/>
          </a:prstGeom>
          <a:noFill/>
          <a:ln/>
        </p:spPr>
        <p:txBody>
          <a:bodyPr wrap="square" lIns="0" tIns="0" rIns="0" bIns="0" rtlCol="0" anchor="ctr"/>
          <a:lstStyle/>
          <a:p>
            <a:pPr marL="0" indent="0">
              <a:buNone/>
            </a:pPr>
            <a:r>
              <a:rPr lang="en-US" sz="3200" b="1" dirty="0">
                <a:solidFill>
                  <a:srgbClr val="18244F"/>
                </a:solidFill>
                <a:latin typeface="Cambria" pitchFamily="34" charset="0"/>
                <a:ea typeface="Cambria" pitchFamily="34" charset="-122"/>
                <a:cs typeface="Cambria" pitchFamily="34" charset="-120"/>
              </a:rPr>
              <a:t>Deadlock Detection</a:t>
            </a:r>
            <a:endParaRPr lang="en-US" sz="3200" dirty="0"/>
          </a:p>
        </p:txBody>
      </p:sp>
      <p:sp>
        <p:nvSpPr>
          <p:cNvPr id="7" name="Text 4"/>
          <p:cNvSpPr/>
          <p:nvPr/>
        </p:nvSpPr>
        <p:spPr>
          <a:xfrm>
            <a:off x="457200" y="868680"/>
            <a:ext cx="10241280" cy="310896"/>
          </a:xfrm>
          <a:prstGeom prst="rect">
            <a:avLst/>
          </a:prstGeom>
          <a:noFill/>
          <a:ln/>
        </p:spPr>
        <p:txBody>
          <a:bodyPr wrap="square" lIns="0" tIns="0" rIns="0" bIns="0" rtlCol="0" anchor="ctr"/>
          <a:lstStyle/>
          <a:p>
            <a:pPr marL="0" indent="0">
              <a:buNone/>
            </a:pPr>
            <a:r>
              <a:rPr lang="en-US" sz="1350" dirty="0">
                <a:solidFill>
                  <a:srgbClr val="5A6273"/>
                </a:solidFill>
                <a:latin typeface="Calibri" pitchFamily="34" charset="0"/>
                <a:ea typeface="Calibri" pitchFamily="34" charset="-122"/>
                <a:cs typeface="Calibri" pitchFamily="34" charset="-120"/>
              </a:rPr>
              <a:t>Allow deadlocks to occur, but examine the system periodically to find out whether one has actually happened.</a:t>
            </a:r>
            <a:endParaRPr lang="en-US" sz="1350" dirty="0"/>
          </a:p>
        </p:txBody>
      </p:sp>
      <p:sp>
        <p:nvSpPr>
          <p:cNvPr id="8" name="Shape 5"/>
          <p:cNvSpPr/>
          <p:nvPr/>
        </p:nvSpPr>
        <p:spPr>
          <a:xfrm>
            <a:off x="457200" y="1371600"/>
            <a:ext cx="6400800" cy="2697480"/>
          </a:xfrm>
          <a:prstGeom prst="roundRect">
            <a:avLst>
              <a:gd name="adj" fmla="val 2712"/>
            </a:avLst>
          </a:prstGeom>
          <a:solidFill>
            <a:srgbClr val="EEF2F8"/>
          </a:solidFill>
          <a:ln w="12700">
            <a:solidFill>
              <a:srgbClr val="D5DEEA"/>
            </a:solidFill>
            <a:prstDash val="solid"/>
          </a:ln>
        </p:spPr>
      </p:sp>
      <p:sp>
        <p:nvSpPr>
          <p:cNvPr id="9" name="Text 6"/>
          <p:cNvSpPr/>
          <p:nvPr/>
        </p:nvSpPr>
        <p:spPr>
          <a:xfrm>
            <a:off x="658368" y="1481328"/>
            <a:ext cx="6035040" cy="274320"/>
          </a:xfrm>
          <a:prstGeom prst="rect">
            <a:avLst/>
          </a:prstGeom>
          <a:noFill/>
          <a:ln/>
        </p:spPr>
        <p:txBody>
          <a:bodyPr wrap="square" lIns="0" tIns="0" rIns="0" bIns="0" rtlCol="0" anchor="ctr"/>
          <a:lstStyle/>
          <a:p>
            <a:pPr marL="0" indent="0">
              <a:buNone/>
            </a:pPr>
            <a:r>
              <a:rPr lang="en-US" sz="1200" b="1" dirty="0">
                <a:solidFill>
                  <a:srgbClr val="18244F"/>
                </a:solidFill>
                <a:latin typeface="Calibri" pitchFamily="34" charset="0"/>
                <a:ea typeface="Calibri" pitchFamily="34" charset="-122"/>
                <a:cs typeface="Calibri" pitchFamily="34" charset="-120"/>
              </a:rPr>
              <a:t>Wait-for graph  (single instance per resource)</a:t>
            </a:r>
            <a:endParaRPr lang="en-US" sz="1200" dirty="0"/>
          </a:p>
        </p:txBody>
      </p:sp>
      <p:sp>
        <p:nvSpPr>
          <p:cNvPr id="10" name="Shape 7"/>
          <p:cNvSpPr/>
          <p:nvPr/>
        </p:nvSpPr>
        <p:spPr>
          <a:xfrm>
            <a:off x="914400" y="2057400"/>
            <a:ext cx="1371600" cy="731520"/>
          </a:xfrm>
          <a:prstGeom prst="roundRect">
            <a:avLst>
              <a:gd name="adj" fmla="val 10000"/>
            </a:avLst>
          </a:prstGeom>
          <a:solidFill>
            <a:srgbClr val="18244F"/>
          </a:solidFill>
          <a:ln w="12700">
            <a:solidFill>
              <a:srgbClr val="18244F"/>
            </a:solidFill>
            <a:prstDash val="solid"/>
          </a:ln>
        </p:spPr>
      </p:sp>
      <p:sp>
        <p:nvSpPr>
          <p:cNvPr id="11" name="Text 8"/>
          <p:cNvSpPr/>
          <p:nvPr/>
        </p:nvSpPr>
        <p:spPr>
          <a:xfrm>
            <a:off x="914400" y="2057400"/>
            <a:ext cx="137160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P1</a:t>
            </a:r>
            <a:endParaRPr lang="en-US" sz="1500" dirty="0"/>
          </a:p>
        </p:txBody>
      </p:sp>
      <p:sp>
        <p:nvSpPr>
          <p:cNvPr id="12" name="Shape 9"/>
          <p:cNvSpPr/>
          <p:nvPr/>
        </p:nvSpPr>
        <p:spPr>
          <a:xfrm>
            <a:off x="2834640" y="2057400"/>
            <a:ext cx="1371600" cy="731520"/>
          </a:xfrm>
          <a:prstGeom prst="roundRect">
            <a:avLst>
              <a:gd name="adj" fmla="val 10000"/>
            </a:avLst>
          </a:prstGeom>
          <a:solidFill>
            <a:srgbClr val="1C7293"/>
          </a:solidFill>
          <a:ln w="12700">
            <a:solidFill>
              <a:srgbClr val="1C7293"/>
            </a:solidFill>
            <a:prstDash val="solid"/>
          </a:ln>
        </p:spPr>
      </p:sp>
      <p:sp>
        <p:nvSpPr>
          <p:cNvPr id="13" name="Text 10"/>
          <p:cNvSpPr/>
          <p:nvPr/>
        </p:nvSpPr>
        <p:spPr>
          <a:xfrm>
            <a:off x="2834640" y="2057400"/>
            <a:ext cx="137160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P2</a:t>
            </a:r>
            <a:endParaRPr lang="en-US" sz="1500" dirty="0"/>
          </a:p>
        </p:txBody>
      </p:sp>
      <p:sp>
        <p:nvSpPr>
          <p:cNvPr id="14" name="Shape 11"/>
          <p:cNvSpPr/>
          <p:nvPr/>
        </p:nvSpPr>
        <p:spPr>
          <a:xfrm>
            <a:off x="4754880" y="2057400"/>
            <a:ext cx="1371600" cy="731520"/>
          </a:xfrm>
          <a:prstGeom prst="roundRect">
            <a:avLst>
              <a:gd name="adj" fmla="val 10000"/>
            </a:avLst>
          </a:prstGeom>
          <a:solidFill>
            <a:srgbClr val="18244F"/>
          </a:solidFill>
          <a:ln w="12700">
            <a:solidFill>
              <a:srgbClr val="18244F"/>
            </a:solidFill>
            <a:prstDash val="solid"/>
          </a:ln>
        </p:spPr>
      </p:sp>
      <p:sp>
        <p:nvSpPr>
          <p:cNvPr id="15" name="Text 12"/>
          <p:cNvSpPr/>
          <p:nvPr/>
        </p:nvSpPr>
        <p:spPr>
          <a:xfrm>
            <a:off x="4754880" y="2057400"/>
            <a:ext cx="137160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P3</a:t>
            </a:r>
            <a:endParaRPr lang="en-US" sz="1500" dirty="0"/>
          </a:p>
        </p:txBody>
      </p:sp>
      <p:sp>
        <p:nvSpPr>
          <p:cNvPr id="16" name="Shape 13"/>
          <p:cNvSpPr/>
          <p:nvPr/>
        </p:nvSpPr>
        <p:spPr>
          <a:xfrm>
            <a:off x="2359152" y="2423160"/>
            <a:ext cx="402336" cy="0"/>
          </a:xfrm>
          <a:prstGeom prst="line">
            <a:avLst/>
          </a:prstGeom>
          <a:noFill/>
          <a:ln w="19050">
            <a:solidFill>
              <a:srgbClr val="9AA4B8"/>
            </a:solidFill>
            <a:prstDash val="solid"/>
            <a:tailEnd type="triangle"/>
          </a:ln>
        </p:spPr>
      </p:sp>
      <p:sp>
        <p:nvSpPr>
          <p:cNvPr id="17" name="Shape 14"/>
          <p:cNvSpPr/>
          <p:nvPr/>
        </p:nvSpPr>
        <p:spPr>
          <a:xfrm>
            <a:off x="4279392" y="2423160"/>
            <a:ext cx="402336" cy="0"/>
          </a:xfrm>
          <a:prstGeom prst="line">
            <a:avLst/>
          </a:prstGeom>
          <a:noFill/>
          <a:ln w="19050">
            <a:solidFill>
              <a:srgbClr val="9AA4B8"/>
            </a:solidFill>
            <a:prstDash val="solid"/>
            <a:tailEnd type="triangle"/>
          </a:ln>
        </p:spPr>
      </p:sp>
      <p:sp>
        <p:nvSpPr>
          <p:cNvPr id="18" name="Text 15"/>
          <p:cNvSpPr/>
          <p:nvPr/>
        </p:nvSpPr>
        <p:spPr>
          <a:xfrm>
            <a:off x="2286000" y="2075688"/>
            <a:ext cx="548640" cy="274320"/>
          </a:xfrm>
          <a:prstGeom prst="rect">
            <a:avLst/>
          </a:prstGeom>
          <a:noFill/>
          <a:ln/>
        </p:spPr>
        <p:txBody>
          <a:bodyPr wrap="square" lIns="0" tIns="0" rIns="0" bIns="0" rtlCol="0" anchor="ctr"/>
          <a:lstStyle/>
          <a:p>
            <a:pPr marL="0" indent="0" algn="ctr">
              <a:buNone/>
            </a:pPr>
            <a:r>
              <a:rPr lang="en-US" sz="950" dirty="0">
                <a:solidFill>
                  <a:srgbClr val="5A6273"/>
                </a:solidFill>
                <a:latin typeface="Calibri" pitchFamily="34" charset="0"/>
                <a:ea typeface="Calibri" pitchFamily="34" charset="-122"/>
                <a:cs typeface="Calibri" pitchFamily="34" charset="-120"/>
              </a:rPr>
              <a:t>waits for</a:t>
            </a:r>
            <a:endParaRPr lang="en-US" sz="950" dirty="0"/>
          </a:p>
        </p:txBody>
      </p:sp>
      <p:sp>
        <p:nvSpPr>
          <p:cNvPr id="19" name="Text 16"/>
          <p:cNvSpPr/>
          <p:nvPr/>
        </p:nvSpPr>
        <p:spPr>
          <a:xfrm>
            <a:off x="4206240" y="2075688"/>
            <a:ext cx="548640" cy="274320"/>
          </a:xfrm>
          <a:prstGeom prst="rect">
            <a:avLst/>
          </a:prstGeom>
          <a:noFill/>
          <a:ln/>
        </p:spPr>
        <p:txBody>
          <a:bodyPr wrap="square" lIns="0" tIns="0" rIns="0" bIns="0" rtlCol="0" anchor="ctr"/>
          <a:lstStyle/>
          <a:p>
            <a:pPr marL="0" indent="0" algn="ctr">
              <a:buNone/>
            </a:pPr>
            <a:r>
              <a:rPr lang="en-US" sz="950" dirty="0">
                <a:solidFill>
                  <a:srgbClr val="5A6273"/>
                </a:solidFill>
                <a:latin typeface="Calibri" pitchFamily="34" charset="0"/>
                <a:ea typeface="Calibri" pitchFamily="34" charset="-122"/>
                <a:cs typeface="Calibri" pitchFamily="34" charset="-120"/>
              </a:rPr>
              <a:t>waits for</a:t>
            </a:r>
            <a:endParaRPr lang="en-US" sz="950" dirty="0"/>
          </a:p>
        </p:txBody>
      </p:sp>
      <p:sp>
        <p:nvSpPr>
          <p:cNvPr id="20" name="Shape 17"/>
          <p:cNvSpPr/>
          <p:nvPr/>
        </p:nvSpPr>
        <p:spPr>
          <a:xfrm>
            <a:off x="5440680" y="2788920"/>
            <a:ext cx="0" cy="640080"/>
          </a:xfrm>
          <a:prstGeom prst="line">
            <a:avLst/>
          </a:prstGeom>
          <a:noFill/>
          <a:ln w="19050">
            <a:solidFill>
              <a:srgbClr val="9AA4B8"/>
            </a:solidFill>
            <a:prstDash val="solid"/>
          </a:ln>
        </p:spPr>
      </p:sp>
      <p:sp>
        <p:nvSpPr>
          <p:cNvPr id="21" name="Shape 18"/>
          <p:cNvSpPr/>
          <p:nvPr/>
        </p:nvSpPr>
        <p:spPr>
          <a:xfrm>
            <a:off x="1600200" y="3429000"/>
            <a:ext cx="3840480" cy="0"/>
          </a:xfrm>
          <a:prstGeom prst="line">
            <a:avLst/>
          </a:prstGeom>
          <a:noFill/>
          <a:ln w="19050">
            <a:solidFill>
              <a:srgbClr val="9AA4B8"/>
            </a:solidFill>
            <a:prstDash val="solid"/>
          </a:ln>
        </p:spPr>
      </p:sp>
      <p:sp>
        <p:nvSpPr>
          <p:cNvPr id="22" name="Shape 19"/>
          <p:cNvSpPr/>
          <p:nvPr/>
        </p:nvSpPr>
        <p:spPr>
          <a:xfrm flipV="1">
            <a:off x="1600200" y="2862072"/>
            <a:ext cx="0" cy="566928"/>
          </a:xfrm>
          <a:prstGeom prst="line">
            <a:avLst/>
          </a:prstGeom>
          <a:noFill/>
          <a:ln w="19050">
            <a:solidFill>
              <a:srgbClr val="9AA4B8"/>
            </a:solidFill>
            <a:prstDash val="solid"/>
            <a:tailEnd type="triangle"/>
          </a:ln>
        </p:spPr>
      </p:sp>
      <p:sp>
        <p:nvSpPr>
          <p:cNvPr id="23" name="Text 20"/>
          <p:cNvSpPr/>
          <p:nvPr/>
        </p:nvSpPr>
        <p:spPr>
          <a:xfrm>
            <a:off x="914400" y="3474720"/>
            <a:ext cx="5212080" cy="274320"/>
          </a:xfrm>
          <a:prstGeom prst="rect">
            <a:avLst/>
          </a:prstGeom>
          <a:noFill/>
          <a:ln/>
        </p:spPr>
        <p:txBody>
          <a:bodyPr wrap="square" lIns="0" tIns="0" rIns="0" bIns="0" rtlCol="0" anchor="ctr"/>
          <a:lstStyle/>
          <a:p>
            <a:pPr marL="0" indent="0" algn="ctr">
              <a:buNone/>
            </a:pPr>
            <a:r>
              <a:rPr lang="en-US" sz="1050" i="1" dirty="0">
                <a:solidFill>
                  <a:srgbClr val="E8A33D"/>
                </a:solidFill>
                <a:latin typeface="Calibri" pitchFamily="34" charset="0"/>
                <a:ea typeface="Calibri" pitchFamily="34" charset="-122"/>
                <a:cs typeface="Calibri" pitchFamily="34" charset="-120"/>
              </a:rPr>
              <a:t>P3 waits for P1  -  the cycle closes</a:t>
            </a:r>
            <a:endParaRPr lang="en-US" sz="1050" dirty="0"/>
          </a:p>
        </p:txBody>
      </p:sp>
      <p:sp>
        <p:nvSpPr>
          <p:cNvPr id="24" name="Text 21"/>
          <p:cNvSpPr/>
          <p:nvPr/>
        </p:nvSpPr>
        <p:spPr>
          <a:xfrm>
            <a:off x="658368" y="3730752"/>
            <a:ext cx="6035040" cy="274320"/>
          </a:xfrm>
          <a:prstGeom prst="rect">
            <a:avLst/>
          </a:prstGeom>
          <a:noFill/>
          <a:ln/>
        </p:spPr>
        <p:txBody>
          <a:bodyPr wrap="square" lIns="0" tIns="0" rIns="0" bIns="0" rtlCol="0" anchor="ctr"/>
          <a:lstStyle/>
          <a:p>
            <a:pPr marL="0" indent="0" algn="ctr">
              <a:buNone/>
            </a:pPr>
            <a:r>
              <a:rPr lang="en-US" sz="1200" b="1" dirty="0">
                <a:solidFill>
                  <a:srgbClr val="18244F"/>
                </a:solidFill>
                <a:latin typeface="Calibri" pitchFamily="34" charset="0"/>
                <a:ea typeface="Calibri" pitchFamily="34" charset="-122"/>
                <a:cs typeface="Calibri" pitchFamily="34" charset="-120"/>
              </a:rPr>
              <a:t>A cycle in the wait-for graph  =&gt;  the system is deadlocked</a:t>
            </a:r>
            <a:endParaRPr lang="en-US" sz="1200" dirty="0"/>
          </a:p>
        </p:txBody>
      </p:sp>
      <p:sp>
        <p:nvSpPr>
          <p:cNvPr id="25" name="Shape 22"/>
          <p:cNvSpPr/>
          <p:nvPr/>
        </p:nvSpPr>
        <p:spPr>
          <a:xfrm>
            <a:off x="457200" y="4224528"/>
            <a:ext cx="6400800" cy="1700784"/>
          </a:xfrm>
          <a:prstGeom prst="roundRect">
            <a:avLst>
              <a:gd name="adj" fmla="val 4301"/>
            </a:avLst>
          </a:prstGeom>
          <a:solidFill>
            <a:srgbClr val="EAF2F6"/>
          </a:solidFill>
          <a:ln w="12700">
            <a:solidFill>
              <a:srgbClr val="BFD8E2"/>
            </a:solidFill>
            <a:prstDash val="solid"/>
          </a:ln>
        </p:spPr>
      </p:sp>
      <p:sp>
        <p:nvSpPr>
          <p:cNvPr id="26" name="Text 23"/>
          <p:cNvSpPr/>
          <p:nvPr/>
        </p:nvSpPr>
        <p:spPr>
          <a:xfrm>
            <a:off x="658368" y="4315968"/>
            <a:ext cx="6035040" cy="1517904"/>
          </a:xfrm>
          <a:prstGeom prst="rect">
            <a:avLst/>
          </a:prstGeom>
          <a:noFill/>
          <a:ln/>
        </p:spPr>
        <p:txBody>
          <a:bodyPr wrap="square" lIns="0" tIns="0" rIns="0" bIns="0" rtlCol="0" anchor="ctr"/>
          <a:lstStyle/>
          <a:p>
            <a:pPr marL="0" indent="0">
              <a:spcAft>
                <a:spcPts val="600"/>
              </a:spcAft>
              <a:buNone/>
            </a:pPr>
            <a:r>
              <a:rPr lang="en-US" sz="1150" b="1" dirty="0">
                <a:solidFill>
                  <a:srgbClr val="1C7293"/>
                </a:solidFill>
                <a:latin typeface="Calibri" pitchFamily="34" charset="0"/>
                <a:ea typeface="Calibri" pitchFamily="34" charset="-122"/>
                <a:cs typeface="Calibri" pitchFamily="34" charset="-120"/>
              </a:rPr>
              <a:t>Single instance:  </a:t>
            </a:r>
            <a:r>
              <a:rPr lang="en-US" sz="1150" dirty="0">
                <a:solidFill>
                  <a:srgbClr val="5A6273"/>
                </a:solidFill>
                <a:latin typeface="Calibri" pitchFamily="34" charset="0"/>
                <a:ea typeface="Calibri" pitchFamily="34" charset="-122"/>
                <a:cs typeface="Calibri" pitchFamily="34" charset="-120"/>
              </a:rPr>
              <a:t>build the wait-for graph by collapsing the resource nodes, then search for a cycle - O(n2).</a:t>
            </a:r>
            <a:endParaRPr lang="en-US" sz="1150" dirty="0"/>
          </a:p>
          <a:p>
            <a:pPr marL="0" indent="0">
              <a:spcAft>
                <a:spcPts val="600"/>
              </a:spcAft>
              <a:buNone/>
            </a:pPr>
            <a:r>
              <a:rPr lang="en-US" sz="1150" b="1" dirty="0">
                <a:solidFill>
                  <a:srgbClr val="1C7293"/>
                </a:solidFill>
                <a:latin typeface="Calibri" pitchFamily="34" charset="0"/>
                <a:ea typeface="Calibri" pitchFamily="34" charset="-122"/>
                <a:cs typeface="Calibri" pitchFamily="34" charset="-120"/>
              </a:rPr>
              <a:t>Several instances:  </a:t>
            </a:r>
            <a:r>
              <a:rPr lang="en-US" sz="1150" dirty="0">
                <a:solidFill>
                  <a:srgbClr val="5A6273"/>
                </a:solidFill>
                <a:latin typeface="Calibri" pitchFamily="34" charset="0"/>
                <a:ea typeface="Calibri" pitchFamily="34" charset="-122"/>
                <a:cs typeface="Calibri" pitchFamily="34" charset="-120"/>
              </a:rPr>
              <a:t>a cycle is no longer sufficient. Run a detection algorithm similar to the Banker's safety check on the Available, Allocation and Request matrices; every process that cannot be marked as finishing is deadlocked.</a:t>
            </a:r>
            <a:endParaRPr lang="en-US" sz="1150" dirty="0"/>
          </a:p>
        </p:txBody>
      </p:sp>
      <p:sp>
        <p:nvSpPr>
          <p:cNvPr id="27" name="Shape 24"/>
          <p:cNvSpPr/>
          <p:nvPr/>
        </p:nvSpPr>
        <p:spPr>
          <a:xfrm>
            <a:off x="7178040" y="1371600"/>
            <a:ext cx="4553712" cy="1024128"/>
          </a:xfrm>
          <a:prstGeom prst="roundRect">
            <a:avLst>
              <a:gd name="adj" fmla="val 7143"/>
            </a:avLst>
          </a:prstGeom>
          <a:solidFill>
            <a:srgbClr val="EEF2F8"/>
          </a:solidFill>
          <a:ln w="12700">
            <a:solidFill>
              <a:srgbClr val="D5DEEA"/>
            </a:solidFill>
            <a:prstDash val="solid"/>
          </a:ln>
        </p:spPr>
      </p:sp>
      <p:sp>
        <p:nvSpPr>
          <p:cNvPr id="28" name="Shape 25"/>
          <p:cNvSpPr/>
          <p:nvPr/>
        </p:nvSpPr>
        <p:spPr>
          <a:xfrm>
            <a:off x="7379208" y="1517904"/>
            <a:ext cx="329184" cy="329184"/>
          </a:xfrm>
          <a:prstGeom prst="ellipse">
            <a:avLst/>
          </a:prstGeom>
          <a:solidFill>
            <a:srgbClr val="18244F"/>
          </a:solidFill>
          <a:ln w="12700">
            <a:solidFill>
              <a:srgbClr val="18244F"/>
            </a:solidFill>
            <a:prstDash val="solid"/>
          </a:ln>
        </p:spPr>
      </p:sp>
      <p:sp>
        <p:nvSpPr>
          <p:cNvPr id="29" name="Text 26"/>
          <p:cNvSpPr/>
          <p:nvPr/>
        </p:nvSpPr>
        <p:spPr>
          <a:xfrm>
            <a:off x="7379208" y="151790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0" name="Text 27"/>
          <p:cNvSpPr/>
          <p:nvPr/>
        </p:nvSpPr>
        <p:spPr>
          <a:xfrm>
            <a:off x="7818120" y="1426464"/>
            <a:ext cx="3749040" cy="274320"/>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When to run it</a:t>
            </a:r>
            <a:endParaRPr lang="en-US" sz="1250" dirty="0"/>
          </a:p>
        </p:txBody>
      </p:sp>
      <p:sp>
        <p:nvSpPr>
          <p:cNvPr id="31" name="Text 28"/>
          <p:cNvSpPr/>
          <p:nvPr/>
        </p:nvSpPr>
        <p:spPr>
          <a:xfrm>
            <a:off x="7818120" y="1700784"/>
            <a:ext cx="3749040" cy="621792"/>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After every request is the most accurate but very costly; in practice run it periodically, or when CPU utilisation drops.</a:t>
            </a:r>
            <a:endParaRPr lang="en-US" sz="1050" dirty="0"/>
          </a:p>
        </p:txBody>
      </p:sp>
      <p:sp>
        <p:nvSpPr>
          <p:cNvPr id="32" name="Shape 29"/>
          <p:cNvSpPr/>
          <p:nvPr/>
        </p:nvSpPr>
        <p:spPr>
          <a:xfrm>
            <a:off x="7178040" y="2514600"/>
            <a:ext cx="4553712" cy="1024128"/>
          </a:xfrm>
          <a:prstGeom prst="roundRect">
            <a:avLst>
              <a:gd name="adj" fmla="val 7143"/>
            </a:avLst>
          </a:prstGeom>
          <a:solidFill>
            <a:srgbClr val="EEF2F8"/>
          </a:solidFill>
          <a:ln w="12700">
            <a:solidFill>
              <a:srgbClr val="D5DEEA"/>
            </a:solidFill>
            <a:prstDash val="solid"/>
          </a:ln>
        </p:spPr>
      </p:sp>
      <p:sp>
        <p:nvSpPr>
          <p:cNvPr id="33" name="Shape 30"/>
          <p:cNvSpPr/>
          <p:nvPr/>
        </p:nvSpPr>
        <p:spPr>
          <a:xfrm>
            <a:off x="7379208" y="2660904"/>
            <a:ext cx="329184" cy="329184"/>
          </a:xfrm>
          <a:prstGeom prst="ellipse">
            <a:avLst/>
          </a:prstGeom>
          <a:solidFill>
            <a:srgbClr val="1C7293"/>
          </a:solidFill>
          <a:ln w="12700">
            <a:solidFill>
              <a:srgbClr val="1C7293"/>
            </a:solidFill>
            <a:prstDash val="solid"/>
          </a:ln>
        </p:spPr>
      </p:sp>
      <p:sp>
        <p:nvSpPr>
          <p:cNvPr id="34" name="Text 31"/>
          <p:cNvSpPr/>
          <p:nvPr/>
        </p:nvSpPr>
        <p:spPr>
          <a:xfrm>
            <a:off x="7379208" y="266090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5" name="Text 32"/>
          <p:cNvSpPr/>
          <p:nvPr/>
        </p:nvSpPr>
        <p:spPr>
          <a:xfrm>
            <a:off x="7818120" y="2569464"/>
            <a:ext cx="3749040" cy="274320"/>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What it costs</a:t>
            </a:r>
            <a:endParaRPr lang="en-US" sz="1250" dirty="0"/>
          </a:p>
        </p:txBody>
      </p:sp>
      <p:sp>
        <p:nvSpPr>
          <p:cNvPr id="36" name="Text 33"/>
          <p:cNvSpPr/>
          <p:nvPr/>
        </p:nvSpPr>
        <p:spPr>
          <a:xfrm>
            <a:off x="7818120" y="2843784"/>
            <a:ext cx="3749040" cy="621792"/>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Frequent checking wastes CPU time; infrequent checking lets several cycles form, making the victim harder to choose.</a:t>
            </a:r>
            <a:endParaRPr lang="en-US" sz="1050" dirty="0"/>
          </a:p>
        </p:txBody>
      </p:sp>
      <p:sp>
        <p:nvSpPr>
          <p:cNvPr id="37" name="Shape 34"/>
          <p:cNvSpPr/>
          <p:nvPr/>
        </p:nvSpPr>
        <p:spPr>
          <a:xfrm>
            <a:off x="7178040" y="3657600"/>
            <a:ext cx="4553712" cy="1024128"/>
          </a:xfrm>
          <a:prstGeom prst="roundRect">
            <a:avLst>
              <a:gd name="adj" fmla="val 7143"/>
            </a:avLst>
          </a:prstGeom>
          <a:solidFill>
            <a:srgbClr val="EEF2F8"/>
          </a:solidFill>
          <a:ln w="12700">
            <a:solidFill>
              <a:srgbClr val="D5DEEA"/>
            </a:solidFill>
            <a:prstDash val="solid"/>
          </a:ln>
        </p:spPr>
      </p:sp>
      <p:sp>
        <p:nvSpPr>
          <p:cNvPr id="38" name="Shape 35"/>
          <p:cNvSpPr/>
          <p:nvPr/>
        </p:nvSpPr>
        <p:spPr>
          <a:xfrm>
            <a:off x="7379208" y="3803904"/>
            <a:ext cx="329184" cy="329184"/>
          </a:xfrm>
          <a:prstGeom prst="ellipse">
            <a:avLst/>
          </a:prstGeom>
          <a:solidFill>
            <a:srgbClr val="E8A33D"/>
          </a:solidFill>
          <a:ln w="12700">
            <a:solidFill>
              <a:srgbClr val="E8A33D"/>
            </a:solidFill>
            <a:prstDash val="solid"/>
          </a:ln>
        </p:spPr>
      </p:sp>
      <p:sp>
        <p:nvSpPr>
          <p:cNvPr id="39" name="Text 36"/>
          <p:cNvSpPr/>
          <p:nvPr/>
        </p:nvSpPr>
        <p:spPr>
          <a:xfrm>
            <a:off x="7379208" y="380390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0" name="Text 37"/>
          <p:cNvSpPr/>
          <p:nvPr/>
        </p:nvSpPr>
        <p:spPr>
          <a:xfrm>
            <a:off x="7818120" y="3712464"/>
            <a:ext cx="3749040" cy="274320"/>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What it returns</a:t>
            </a:r>
            <a:endParaRPr lang="en-US" sz="1250" dirty="0"/>
          </a:p>
        </p:txBody>
      </p:sp>
      <p:sp>
        <p:nvSpPr>
          <p:cNvPr id="41" name="Text 38"/>
          <p:cNvSpPr/>
          <p:nvPr/>
        </p:nvSpPr>
        <p:spPr>
          <a:xfrm>
            <a:off x="7818120" y="3986784"/>
            <a:ext cx="3749040" cy="621792"/>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The set of deadlocked processes and the resources they hold - the input the recovery step needs.</a:t>
            </a:r>
            <a:endParaRPr lang="en-US" sz="1050" dirty="0"/>
          </a:p>
        </p:txBody>
      </p:sp>
      <p:sp>
        <p:nvSpPr>
          <p:cNvPr id="42" name="Shape 39"/>
          <p:cNvSpPr/>
          <p:nvPr/>
        </p:nvSpPr>
        <p:spPr>
          <a:xfrm>
            <a:off x="7178040" y="4800600"/>
            <a:ext cx="4553712" cy="1024128"/>
          </a:xfrm>
          <a:prstGeom prst="roundRect">
            <a:avLst>
              <a:gd name="adj" fmla="val 7143"/>
            </a:avLst>
          </a:prstGeom>
          <a:solidFill>
            <a:srgbClr val="EEF2F8"/>
          </a:solidFill>
          <a:ln w="12700">
            <a:solidFill>
              <a:srgbClr val="D5DEEA"/>
            </a:solidFill>
            <a:prstDash val="solid"/>
          </a:ln>
        </p:spPr>
      </p:sp>
      <p:sp>
        <p:nvSpPr>
          <p:cNvPr id="43" name="Shape 40"/>
          <p:cNvSpPr/>
          <p:nvPr/>
        </p:nvSpPr>
        <p:spPr>
          <a:xfrm>
            <a:off x="7379208" y="4946904"/>
            <a:ext cx="329184" cy="329184"/>
          </a:xfrm>
          <a:prstGeom prst="ellipse">
            <a:avLst/>
          </a:prstGeom>
          <a:solidFill>
            <a:srgbClr val="18244F"/>
          </a:solidFill>
          <a:ln w="12700">
            <a:solidFill>
              <a:srgbClr val="18244F"/>
            </a:solidFill>
            <a:prstDash val="solid"/>
          </a:ln>
        </p:spPr>
      </p:sp>
      <p:sp>
        <p:nvSpPr>
          <p:cNvPr id="44" name="Text 41"/>
          <p:cNvSpPr/>
          <p:nvPr/>
        </p:nvSpPr>
        <p:spPr>
          <a:xfrm>
            <a:off x="7379208" y="494690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5" name="Text 42"/>
          <p:cNvSpPr/>
          <p:nvPr/>
        </p:nvSpPr>
        <p:spPr>
          <a:xfrm>
            <a:off x="7818120" y="4855464"/>
            <a:ext cx="3749040" cy="274320"/>
          </a:xfrm>
          <a:prstGeom prst="rect">
            <a:avLst/>
          </a:prstGeom>
          <a:noFill/>
          <a:ln/>
        </p:spPr>
        <p:txBody>
          <a:bodyPr wrap="square" lIns="0" tIns="0" rIns="0" bIns="0" rtlCol="0" anchor="ctr"/>
          <a:lstStyle/>
          <a:p>
            <a:pPr marL="0" indent="0">
              <a:buNone/>
            </a:pPr>
            <a:r>
              <a:rPr lang="en-US" sz="1250" b="1" dirty="0">
                <a:solidFill>
                  <a:srgbClr val="18244F"/>
                </a:solidFill>
                <a:latin typeface="Calibri" pitchFamily="34" charset="0"/>
                <a:ea typeface="Calibri" pitchFamily="34" charset="-122"/>
                <a:cs typeface="Calibri" pitchFamily="34" charset="-120"/>
              </a:rPr>
              <a:t>Why use it</a:t>
            </a:r>
            <a:endParaRPr lang="en-US" sz="1250" dirty="0"/>
          </a:p>
        </p:txBody>
      </p:sp>
      <p:sp>
        <p:nvSpPr>
          <p:cNvPr id="46" name="Text 43"/>
          <p:cNvSpPr/>
          <p:nvPr/>
        </p:nvSpPr>
        <p:spPr>
          <a:xfrm>
            <a:off x="7818120" y="5129784"/>
            <a:ext cx="3749040" cy="621792"/>
          </a:xfrm>
          <a:prstGeom prst="rect">
            <a:avLst/>
          </a:prstGeom>
          <a:noFill/>
          <a:ln/>
        </p:spPr>
        <p:txBody>
          <a:bodyPr wrap="square" lIns="0" tIns="0" rIns="0" bIns="0" rtlCol="0" anchor="t"/>
          <a:lstStyle/>
          <a:p>
            <a:pPr marL="0" indent="0">
              <a:buNone/>
            </a:pPr>
            <a:r>
              <a:rPr lang="en-US" sz="1050" dirty="0">
                <a:solidFill>
                  <a:srgbClr val="5A6273"/>
                </a:solidFill>
                <a:latin typeface="Calibri" pitchFamily="34" charset="0"/>
                <a:ea typeface="Calibri" pitchFamily="34" charset="-122"/>
                <a:cs typeface="Calibri" pitchFamily="34" charset="-120"/>
              </a:rPr>
              <a:t>No advance knowledge of maximum demands is needed, and resource utilisation stays high.</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625328" y="274320"/>
            <a:ext cx="1143000" cy="261518"/>
          </a:xfrm>
          <a:prstGeom prst="rect">
            <a:avLst/>
          </a:prstGeom>
        </p:spPr>
      </p:pic>
      <p:sp>
        <p:nvSpPr>
          <p:cNvPr id="3" name="Text 0"/>
          <p:cNvSpPr/>
          <p:nvPr/>
        </p:nvSpPr>
        <p:spPr>
          <a:xfrm>
            <a:off x="457200" y="6355080"/>
            <a:ext cx="3383280" cy="274320"/>
          </a:xfrm>
          <a:prstGeom prst="rect">
            <a:avLst/>
          </a:prstGeom>
          <a:noFill/>
          <a:ln/>
        </p:spPr>
        <p:txBody>
          <a:bodyPr wrap="square" lIns="0" tIns="0" rIns="0" bIns="0" rtlCol="0" anchor="ctr"/>
          <a:lstStyle/>
          <a:p>
            <a:pPr marL="0" indent="0" algn="l">
              <a:buNone/>
            </a:pPr>
            <a:r>
              <a:rPr lang="en-US" sz="900" dirty="0">
                <a:solidFill>
                  <a:srgbClr val="9AA4B8"/>
                </a:solidFill>
                <a:latin typeface="Calibri" pitchFamily="34" charset="0"/>
                <a:ea typeface="Calibri" pitchFamily="34" charset="-122"/>
                <a:cs typeface="Calibri" pitchFamily="34" charset="-120"/>
              </a:rPr>
              <a:t>Computer Organization and Architecture (IT5301)</a:t>
            </a:r>
            <a:endParaRPr lang="en-US" sz="900" dirty="0"/>
          </a:p>
        </p:txBody>
      </p:sp>
      <p:sp>
        <p:nvSpPr>
          <p:cNvPr id="4" name="Text 1"/>
          <p:cNvSpPr/>
          <p:nvPr/>
        </p:nvSpPr>
        <p:spPr>
          <a:xfrm>
            <a:off x="3931920" y="6355080"/>
            <a:ext cx="4572000" cy="274320"/>
          </a:xfrm>
          <a:prstGeom prst="rect">
            <a:avLst/>
          </a:prstGeom>
          <a:noFill/>
          <a:ln/>
        </p:spPr>
        <p:txBody>
          <a:bodyPr wrap="square" lIns="0" tIns="0" rIns="0" bIns="0" rtlCol="0" anchor="ctr"/>
          <a:lstStyle/>
          <a:p>
            <a:pPr marL="0" indent="0" algn="ctr">
              <a:buNone/>
            </a:pPr>
            <a:r>
              <a:rPr lang="en-US" sz="900" dirty="0">
                <a:solidFill>
                  <a:srgbClr val="9AA4B8"/>
                </a:solidFill>
                <a:latin typeface="Calibri" pitchFamily="34" charset="0"/>
                <a:ea typeface="Calibri" pitchFamily="34" charset="-122"/>
                <a:cs typeface="Calibri" pitchFamily="34" charset="-120"/>
              </a:rPr>
              <a:t>Deadlock - Prevention, Avoidance, Detection and Recovery</a:t>
            </a:r>
            <a:endParaRPr lang="en-US" sz="900" dirty="0"/>
          </a:p>
        </p:txBody>
      </p:sp>
      <p:sp>
        <p:nvSpPr>
          <p:cNvPr id="5" name="Text 2"/>
          <p:cNvSpPr/>
          <p:nvPr/>
        </p:nvSpPr>
        <p:spPr>
          <a:xfrm>
            <a:off x="8595360" y="6355080"/>
            <a:ext cx="3136392" cy="274320"/>
          </a:xfrm>
          <a:prstGeom prst="rect">
            <a:avLst/>
          </a:prstGeom>
          <a:noFill/>
          <a:ln/>
        </p:spPr>
        <p:txBody>
          <a:bodyPr wrap="square" lIns="0" tIns="0" rIns="0" bIns="0" rtlCol="0" anchor="ctr"/>
          <a:lstStyle/>
          <a:p>
            <a:pPr marL="0" indent="0" algn="r">
              <a:buNone/>
            </a:pPr>
            <a:r>
              <a:rPr lang="en-US" sz="900" dirty="0">
                <a:solidFill>
                  <a:srgbClr val="9AA4B8"/>
                </a:solidFill>
                <a:latin typeface="Calibri" pitchFamily="34" charset="0"/>
                <a:ea typeface="Calibri" pitchFamily="34" charset="-122"/>
                <a:cs typeface="Calibri" pitchFamily="34" charset="-120"/>
              </a:rPr>
              <a:t>B.Tech IT  |  Chennai Institute of Technology  |  6</a:t>
            </a:r>
            <a:endParaRPr lang="en-US" sz="900" dirty="0"/>
          </a:p>
        </p:txBody>
      </p:sp>
      <p:sp>
        <p:nvSpPr>
          <p:cNvPr id="6" name="Text 3"/>
          <p:cNvSpPr/>
          <p:nvPr/>
        </p:nvSpPr>
        <p:spPr>
          <a:xfrm>
            <a:off x="457200" y="274320"/>
            <a:ext cx="9966960" cy="566928"/>
          </a:xfrm>
          <a:prstGeom prst="rect">
            <a:avLst/>
          </a:prstGeom>
          <a:noFill/>
          <a:ln/>
        </p:spPr>
        <p:txBody>
          <a:bodyPr wrap="square" lIns="0" tIns="0" rIns="0" bIns="0" rtlCol="0" anchor="ctr"/>
          <a:lstStyle/>
          <a:p>
            <a:pPr marL="0" indent="0">
              <a:buNone/>
            </a:pPr>
            <a:r>
              <a:rPr lang="en-US" sz="3200" b="1" dirty="0">
                <a:solidFill>
                  <a:srgbClr val="18244F"/>
                </a:solidFill>
                <a:latin typeface="Cambria" pitchFamily="34" charset="0"/>
                <a:ea typeface="Cambria" pitchFamily="34" charset="-122"/>
                <a:cs typeface="Cambria" pitchFamily="34" charset="-120"/>
              </a:rPr>
              <a:t>Recovery from Deadlock  |  Key Takeaways</a:t>
            </a:r>
            <a:endParaRPr lang="en-US" sz="3200" dirty="0"/>
          </a:p>
        </p:txBody>
      </p:sp>
      <p:sp>
        <p:nvSpPr>
          <p:cNvPr id="7" name="Text 4"/>
          <p:cNvSpPr/>
          <p:nvPr/>
        </p:nvSpPr>
        <p:spPr>
          <a:xfrm>
            <a:off x="457200" y="868680"/>
            <a:ext cx="10241280" cy="310896"/>
          </a:xfrm>
          <a:prstGeom prst="rect">
            <a:avLst/>
          </a:prstGeom>
          <a:noFill/>
          <a:ln/>
        </p:spPr>
        <p:txBody>
          <a:bodyPr wrap="square" lIns="0" tIns="0" rIns="0" bIns="0" rtlCol="0" anchor="ctr"/>
          <a:lstStyle/>
          <a:p>
            <a:pPr marL="0" indent="0">
              <a:buNone/>
            </a:pPr>
            <a:r>
              <a:rPr lang="en-US" sz="1350" dirty="0">
                <a:solidFill>
                  <a:srgbClr val="5A6273"/>
                </a:solidFill>
                <a:latin typeface="Calibri" pitchFamily="34" charset="0"/>
                <a:ea typeface="Calibri" pitchFamily="34" charset="-122"/>
                <a:cs typeface="Calibri" pitchFamily="34" charset="-120"/>
              </a:rPr>
              <a:t>Once detection reports a deadlock, the cycle must be broken - by killing processes or by taking resources back.</a:t>
            </a:r>
            <a:endParaRPr lang="en-US" sz="1350" dirty="0"/>
          </a:p>
        </p:txBody>
      </p:sp>
      <p:sp>
        <p:nvSpPr>
          <p:cNvPr id="8" name="Shape 5"/>
          <p:cNvSpPr/>
          <p:nvPr/>
        </p:nvSpPr>
        <p:spPr>
          <a:xfrm>
            <a:off x="457200" y="1371600"/>
            <a:ext cx="3127248" cy="2331720"/>
          </a:xfrm>
          <a:prstGeom prst="roundRect">
            <a:avLst>
              <a:gd name="adj" fmla="val 3137"/>
            </a:avLst>
          </a:prstGeom>
          <a:solidFill>
            <a:srgbClr val="EEF2F8"/>
          </a:solidFill>
          <a:ln w="12700">
            <a:solidFill>
              <a:srgbClr val="D5DEEA"/>
            </a:solidFill>
            <a:prstDash val="solid"/>
          </a:ln>
        </p:spPr>
      </p:sp>
      <p:sp>
        <p:nvSpPr>
          <p:cNvPr id="9" name="Text 6"/>
          <p:cNvSpPr/>
          <p:nvPr/>
        </p:nvSpPr>
        <p:spPr>
          <a:xfrm>
            <a:off x="658368" y="1481328"/>
            <a:ext cx="2743200" cy="274320"/>
          </a:xfrm>
          <a:prstGeom prst="rect">
            <a:avLst/>
          </a:prstGeom>
          <a:noFill/>
          <a:ln/>
        </p:spPr>
        <p:txBody>
          <a:bodyPr wrap="square" lIns="0" tIns="0" rIns="0" bIns="0" rtlCol="0" anchor="ctr"/>
          <a:lstStyle/>
          <a:p>
            <a:pPr marL="0" indent="0">
              <a:buNone/>
            </a:pPr>
            <a:r>
              <a:rPr lang="en-US" sz="1300" b="1" dirty="0">
                <a:solidFill>
                  <a:srgbClr val="18244F"/>
                </a:solidFill>
                <a:latin typeface="Calibri" pitchFamily="34" charset="0"/>
                <a:ea typeface="Calibri" pitchFamily="34" charset="-122"/>
                <a:cs typeface="Calibri" pitchFamily="34" charset="-120"/>
              </a:rPr>
              <a:t>Process termination</a:t>
            </a:r>
            <a:endParaRPr lang="en-US" sz="1300" dirty="0"/>
          </a:p>
        </p:txBody>
      </p:sp>
      <p:sp>
        <p:nvSpPr>
          <p:cNvPr id="10" name="Text 7"/>
          <p:cNvSpPr/>
          <p:nvPr/>
        </p:nvSpPr>
        <p:spPr>
          <a:xfrm>
            <a:off x="713232" y="1828800"/>
            <a:ext cx="2688336" cy="17373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A6273"/>
                </a:solidFill>
                <a:latin typeface="Calibri" pitchFamily="34" charset="0"/>
                <a:ea typeface="Calibri" pitchFamily="34" charset="-122"/>
                <a:cs typeface="Calibri" pitchFamily="34" charset="-120"/>
              </a:rPr>
              <a:t>Abort all deadlocked processes - the cycle breaks at once, but all partial work is lost.</a:t>
            </a:r>
            <a:endParaRPr lang="en-US" sz="1100" dirty="0"/>
          </a:p>
          <a:p>
            <a:pPr marL="342900" indent="-342900">
              <a:spcAft>
                <a:spcPts val="600"/>
              </a:spcAft>
              <a:buSzPct val="100000"/>
              <a:buChar char="•"/>
            </a:pPr>
            <a:r>
              <a:rPr lang="en-US" sz="1100" dirty="0">
                <a:solidFill>
                  <a:srgbClr val="5A6273"/>
                </a:solidFill>
                <a:latin typeface="Calibri" pitchFamily="34" charset="0"/>
                <a:ea typeface="Calibri" pitchFamily="34" charset="-122"/>
                <a:cs typeface="Calibri" pitchFamily="34" charset="-120"/>
              </a:rPr>
              <a:t>Abort one process at a time, re-running detection after each, until the cycle disappears.</a:t>
            </a:r>
            <a:endParaRPr lang="en-US" sz="1100" dirty="0"/>
          </a:p>
        </p:txBody>
      </p:sp>
      <p:sp>
        <p:nvSpPr>
          <p:cNvPr id="11" name="Shape 8"/>
          <p:cNvSpPr/>
          <p:nvPr/>
        </p:nvSpPr>
        <p:spPr>
          <a:xfrm>
            <a:off x="3730752" y="1371600"/>
            <a:ext cx="3127248" cy="2331720"/>
          </a:xfrm>
          <a:prstGeom prst="roundRect">
            <a:avLst>
              <a:gd name="adj" fmla="val 3137"/>
            </a:avLst>
          </a:prstGeom>
          <a:solidFill>
            <a:srgbClr val="EEF2F8"/>
          </a:solidFill>
          <a:ln w="12700">
            <a:solidFill>
              <a:srgbClr val="D5DEEA"/>
            </a:solidFill>
            <a:prstDash val="solid"/>
          </a:ln>
        </p:spPr>
      </p:sp>
      <p:sp>
        <p:nvSpPr>
          <p:cNvPr id="12" name="Text 9"/>
          <p:cNvSpPr/>
          <p:nvPr/>
        </p:nvSpPr>
        <p:spPr>
          <a:xfrm>
            <a:off x="3931920" y="1481328"/>
            <a:ext cx="2743200" cy="274320"/>
          </a:xfrm>
          <a:prstGeom prst="rect">
            <a:avLst/>
          </a:prstGeom>
          <a:noFill/>
          <a:ln/>
        </p:spPr>
        <p:txBody>
          <a:bodyPr wrap="square" lIns="0" tIns="0" rIns="0" bIns="0" rtlCol="0" anchor="ctr"/>
          <a:lstStyle/>
          <a:p>
            <a:pPr marL="0" indent="0">
              <a:buNone/>
            </a:pPr>
            <a:r>
              <a:rPr lang="en-US" sz="1300" b="1" dirty="0">
                <a:solidFill>
                  <a:srgbClr val="18244F"/>
                </a:solidFill>
                <a:latin typeface="Calibri" pitchFamily="34" charset="0"/>
                <a:ea typeface="Calibri" pitchFamily="34" charset="-122"/>
                <a:cs typeface="Calibri" pitchFamily="34" charset="-120"/>
              </a:rPr>
              <a:t>Resource preemption</a:t>
            </a:r>
            <a:endParaRPr lang="en-US" sz="1300" dirty="0"/>
          </a:p>
        </p:txBody>
      </p:sp>
      <p:sp>
        <p:nvSpPr>
          <p:cNvPr id="13" name="Text 10"/>
          <p:cNvSpPr/>
          <p:nvPr/>
        </p:nvSpPr>
        <p:spPr>
          <a:xfrm>
            <a:off x="3986784" y="1828800"/>
            <a:ext cx="2688336" cy="17373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A6273"/>
                </a:solidFill>
                <a:latin typeface="Calibri" pitchFamily="34" charset="0"/>
                <a:ea typeface="Calibri" pitchFamily="34" charset="-122"/>
                <a:cs typeface="Calibri" pitchFamily="34" charset="-120"/>
              </a:rPr>
              <a:t>Select a victim and take its resources away.</a:t>
            </a:r>
            <a:endParaRPr lang="en-US" sz="1100" dirty="0"/>
          </a:p>
          <a:p>
            <a:pPr marL="342900" indent="-342900">
              <a:spcAft>
                <a:spcPts val="600"/>
              </a:spcAft>
              <a:buSzPct val="100000"/>
              <a:buChar char="•"/>
            </a:pPr>
            <a:r>
              <a:rPr lang="en-US" sz="1100" dirty="0">
                <a:solidFill>
                  <a:srgbClr val="5A6273"/>
                </a:solidFill>
                <a:latin typeface="Calibri" pitchFamily="34" charset="0"/>
                <a:ea typeface="Calibri" pitchFamily="34" charset="-122"/>
                <a:cs typeface="Calibri" pitchFamily="34" charset="-120"/>
              </a:rPr>
              <a:t>Roll the victim back to a safe checkpoint and restart it later.</a:t>
            </a:r>
            <a:endParaRPr lang="en-US" sz="1100" dirty="0"/>
          </a:p>
          <a:p>
            <a:pPr marL="342900" indent="-342900">
              <a:spcAft>
                <a:spcPts val="600"/>
              </a:spcAft>
              <a:buSzPct val="100000"/>
              <a:buChar char="•"/>
            </a:pPr>
            <a:r>
              <a:rPr lang="en-US" sz="1100" dirty="0">
                <a:solidFill>
                  <a:srgbClr val="5A6273"/>
                </a:solidFill>
                <a:latin typeface="Calibri" pitchFamily="34" charset="0"/>
                <a:ea typeface="Calibri" pitchFamily="34" charset="-122"/>
                <a:cs typeface="Calibri" pitchFamily="34" charset="-120"/>
              </a:rPr>
              <a:t>Avoid starvation - do not pick the same victim every time.</a:t>
            </a:r>
            <a:endParaRPr lang="en-US" sz="1100" dirty="0"/>
          </a:p>
        </p:txBody>
      </p:sp>
      <p:sp>
        <p:nvSpPr>
          <p:cNvPr id="14" name="Shape 11"/>
          <p:cNvSpPr/>
          <p:nvPr/>
        </p:nvSpPr>
        <p:spPr>
          <a:xfrm>
            <a:off x="457200" y="3858768"/>
            <a:ext cx="6400800" cy="2066544"/>
          </a:xfrm>
          <a:prstGeom prst="roundRect">
            <a:avLst>
              <a:gd name="adj" fmla="val 3540"/>
            </a:avLst>
          </a:prstGeom>
          <a:solidFill>
            <a:srgbClr val="FDF0DA"/>
          </a:solidFill>
          <a:ln w="12700">
            <a:solidFill>
              <a:srgbClr val="E8A33D"/>
            </a:solidFill>
            <a:prstDash val="solid"/>
          </a:ln>
        </p:spPr>
      </p:sp>
      <p:sp>
        <p:nvSpPr>
          <p:cNvPr id="15" name="Text 12"/>
          <p:cNvSpPr/>
          <p:nvPr/>
        </p:nvSpPr>
        <p:spPr>
          <a:xfrm>
            <a:off x="658368" y="3968496"/>
            <a:ext cx="6035040" cy="274320"/>
          </a:xfrm>
          <a:prstGeom prst="rect">
            <a:avLst/>
          </a:prstGeom>
          <a:noFill/>
          <a:ln/>
        </p:spPr>
        <p:txBody>
          <a:bodyPr wrap="square" lIns="0" tIns="0" rIns="0" bIns="0" rtlCol="0" anchor="ctr"/>
          <a:lstStyle/>
          <a:p>
            <a:pPr marL="0" indent="0">
              <a:buNone/>
            </a:pPr>
            <a:r>
              <a:rPr lang="en-US" sz="1300" b="1" dirty="0">
                <a:solidFill>
                  <a:srgbClr val="9A6A12"/>
                </a:solidFill>
                <a:latin typeface="Calibri" pitchFamily="34" charset="0"/>
                <a:ea typeface="Calibri" pitchFamily="34" charset="-122"/>
                <a:cs typeface="Calibri" pitchFamily="34" charset="-120"/>
              </a:rPr>
              <a:t>Choosing the victim - minimise the total cost</a:t>
            </a:r>
            <a:endParaRPr lang="en-US" sz="1300" dirty="0"/>
          </a:p>
        </p:txBody>
      </p:sp>
      <p:sp>
        <p:nvSpPr>
          <p:cNvPr id="16" name="Text 13"/>
          <p:cNvSpPr/>
          <p:nvPr/>
        </p:nvSpPr>
        <p:spPr>
          <a:xfrm>
            <a:off x="713232" y="4315968"/>
            <a:ext cx="5943600" cy="15087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A6273"/>
                </a:solidFill>
                <a:latin typeface="Calibri" pitchFamily="34" charset="0"/>
                <a:ea typeface="Calibri" pitchFamily="34" charset="-122"/>
                <a:cs typeface="Calibri" pitchFamily="34" charset="-120"/>
              </a:rPr>
              <a:t>Process priority and how long it has already run</a:t>
            </a:r>
            <a:endParaRPr lang="en-US" sz="1100" dirty="0"/>
          </a:p>
          <a:p>
            <a:pPr marL="342900" indent="-342900">
              <a:spcAft>
                <a:spcPts val="500"/>
              </a:spcAft>
              <a:buSzPct val="100000"/>
              <a:buChar char="•"/>
            </a:pPr>
            <a:r>
              <a:rPr lang="en-US" sz="1100" dirty="0">
                <a:solidFill>
                  <a:srgbClr val="5A6273"/>
                </a:solidFill>
                <a:latin typeface="Calibri" pitchFamily="34" charset="0"/>
                <a:ea typeface="Calibri" pitchFamily="34" charset="-122"/>
                <a:cs typeface="Calibri" pitchFamily="34" charset="-120"/>
              </a:rPr>
              <a:t>How many and what kind of resources it holds</a:t>
            </a:r>
            <a:endParaRPr lang="en-US" sz="1100" dirty="0"/>
          </a:p>
          <a:p>
            <a:pPr marL="342900" indent="-342900">
              <a:spcAft>
                <a:spcPts val="500"/>
              </a:spcAft>
              <a:buSzPct val="100000"/>
              <a:buChar char="•"/>
            </a:pPr>
            <a:r>
              <a:rPr lang="en-US" sz="1100" dirty="0">
                <a:solidFill>
                  <a:srgbClr val="5A6273"/>
                </a:solidFill>
                <a:latin typeface="Calibri" pitchFamily="34" charset="0"/>
                <a:ea typeface="Calibri" pitchFamily="34" charset="-122"/>
                <a:cs typeface="Calibri" pitchFamily="34" charset="-120"/>
              </a:rPr>
              <a:t>How many more resources it still needs to finish</a:t>
            </a:r>
            <a:endParaRPr lang="en-US" sz="1100" dirty="0"/>
          </a:p>
          <a:p>
            <a:pPr marL="342900" indent="-342900">
              <a:spcAft>
                <a:spcPts val="500"/>
              </a:spcAft>
              <a:buSzPct val="100000"/>
              <a:buChar char="•"/>
            </a:pPr>
            <a:r>
              <a:rPr lang="en-US" sz="1100" dirty="0">
                <a:solidFill>
                  <a:srgbClr val="5A6273"/>
                </a:solidFill>
                <a:latin typeface="Calibri" pitchFamily="34" charset="0"/>
                <a:ea typeface="Calibri" pitchFamily="34" charset="-122"/>
                <a:cs typeface="Calibri" pitchFamily="34" charset="-120"/>
              </a:rPr>
              <a:t>How many processes must be terminated, and whether the process is interactive or batch</a:t>
            </a:r>
            <a:endParaRPr lang="en-US" sz="1100" dirty="0"/>
          </a:p>
        </p:txBody>
      </p:sp>
      <p:sp>
        <p:nvSpPr>
          <p:cNvPr id="17" name="Shape 14"/>
          <p:cNvSpPr/>
          <p:nvPr/>
        </p:nvSpPr>
        <p:spPr>
          <a:xfrm>
            <a:off x="7178040" y="1371600"/>
            <a:ext cx="4553712" cy="4553712"/>
          </a:xfrm>
          <a:prstGeom prst="roundRect">
            <a:avLst>
              <a:gd name="adj" fmla="val 2008"/>
            </a:avLst>
          </a:prstGeom>
          <a:solidFill>
            <a:srgbClr val="18244F"/>
          </a:solidFill>
          <a:ln w="12700">
            <a:solidFill>
              <a:srgbClr val="18244F"/>
            </a:solidFill>
            <a:prstDash val="solid"/>
          </a:ln>
        </p:spPr>
      </p:sp>
      <p:sp>
        <p:nvSpPr>
          <p:cNvPr id="18" name="Text 15"/>
          <p:cNvSpPr/>
          <p:nvPr/>
        </p:nvSpPr>
        <p:spPr>
          <a:xfrm>
            <a:off x="7452360" y="1536192"/>
            <a:ext cx="402336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Key takeaways</a:t>
            </a:r>
            <a:endParaRPr lang="en-US" sz="1500" dirty="0"/>
          </a:p>
        </p:txBody>
      </p:sp>
      <p:sp>
        <p:nvSpPr>
          <p:cNvPr id="19" name="Shape 16"/>
          <p:cNvSpPr/>
          <p:nvPr/>
        </p:nvSpPr>
        <p:spPr>
          <a:xfrm>
            <a:off x="7452360" y="1993392"/>
            <a:ext cx="310896" cy="310896"/>
          </a:xfrm>
          <a:prstGeom prst="ellipse">
            <a:avLst/>
          </a:prstGeom>
          <a:solidFill>
            <a:srgbClr val="1C7293"/>
          </a:solidFill>
          <a:ln w="12700">
            <a:solidFill>
              <a:srgbClr val="1C7293"/>
            </a:solidFill>
            <a:prstDash val="solid"/>
          </a:ln>
        </p:spPr>
      </p:sp>
      <p:sp>
        <p:nvSpPr>
          <p:cNvPr id="20" name="Text 17"/>
          <p:cNvSpPr/>
          <p:nvPr/>
        </p:nvSpPr>
        <p:spPr>
          <a:xfrm>
            <a:off x="7452360" y="199339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1" name="Text 18"/>
          <p:cNvSpPr/>
          <p:nvPr/>
        </p:nvSpPr>
        <p:spPr>
          <a:xfrm>
            <a:off x="7882128" y="1929384"/>
            <a:ext cx="3566160" cy="256032"/>
          </a:xfrm>
          <a:prstGeom prst="rect">
            <a:avLst/>
          </a:prstGeom>
          <a:noFill/>
          <a:ln/>
        </p:spPr>
        <p:txBody>
          <a:bodyPr wrap="square" lIns="0" tIns="0" rIns="0" bIns="0"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Deadlock</a:t>
            </a:r>
            <a:endParaRPr lang="en-US" sz="1200" dirty="0"/>
          </a:p>
        </p:txBody>
      </p:sp>
      <p:sp>
        <p:nvSpPr>
          <p:cNvPr id="22" name="Text 19"/>
          <p:cNvSpPr/>
          <p:nvPr/>
        </p:nvSpPr>
        <p:spPr>
          <a:xfrm>
            <a:off x="7882128" y="2167128"/>
            <a:ext cx="3566160" cy="530352"/>
          </a:xfrm>
          <a:prstGeom prst="rect">
            <a:avLst/>
          </a:prstGeom>
          <a:noFill/>
          <a:ln/>
        </p:spPr>
        <p:txBody>
          <a:bodyPr wrap="square" lIns="0" tIns="0" rIns="0" bIns="0" rtlCol="0" anchor="t"/>
          <a:lstStyle/>
          <a:p>
            <a:pPr marL="0" indent="0">
              <a:buNone/>
            </a:pPr>
            <a:r>
              <a:rPr lang="en-US" sz="1050" dirty="0">
                <a:solidFill>
                  <a:srgbClr val="CFDCEB"/>
                </a:solidFill>
                <a:latin typeface="Calibri" pitchFamily="34" charset="0"/>
                <a:ea typeface="Calibri" pitchFamily="34" charset="-122"/>
                <a:cs typeface="Calibri" pitchFamily="34" charset="-120"/>
              </a:rPr>
              <a:t>Four conditions hold together: mutual exclusion, hold and wait, no preemption, circular wait.</a:t>
            </a:r>
            <a:endParaRPr lang="en-US" sz="1050" dirty="0"/>
          </a:p>
        </p:txBody>
      </p:sp>
      <p:sp>
        <p:nvSpPr>
          <p:cNvPr id="23" name="Shape 20"/>
          <p:cNvSpPr/>
          <p:nvPr/>
        </p:nvSpPr>
        <p:spPr>
          <a:xfrm>
            <a:off x="7452360" y="2724912"/>
            <a:ext cx="310896" cy="310896"/>
          </a:xfrm>
          <a:prstGeom prst="ellipse">
            <a:avLst/>
          </a:prstGeom>
          <a:solidFill>
            <a:srgbClr val="1C7293"/>
          </a:solidFill>
          <a:ln w="12700">
            <a:solidFill>
              <a:srgbClr val="1C7293"/>
            </a:solidFill>
            <a:prstDash val="solid"/>
          </a:ln>
        </p:spPr>
      </p:sp>
      <p:sp>
        <p:nvSpPr>
          <p:cNvPr id="24" name="Text 21"/>
          <p:cNvSpPr/>
          <p:nvPr/>
        </p:nvSpPr>
        <p:spPr>
          <a:xfrm>
            <a:off x="7452360" y="272491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 22"/>
          <p:cNvSpPr/>
          <p:nvPr/>
        </p:nvSpPr>
        <p:spPr>
          <a:xfrm>
            <a:off x="7882128" y="2660904"/>
            <a:ext cx="3566160" cy="256032"/>
          </a:xfrm>
          <a:prstGeom prst="rect">
            <a:avLst/>
          </a:prstGeom>
          <a:noFill/>
          <a:ln/>
        </p:spPr>
        <p:txBody>
          <a:bodyPr wrap="square" lIns="0" tIns="0" rIns="0" bIns="0"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Prevention</a:t>
            </a:r>
            <a:endParaRPr lang="en-US" sz="1200" dirty="0"/>
          </a:p>
        </p:txBody>
      </p:sp>
      <p:sp>
        <p:nvSpPr>
          <p:cNvPr id="26" name="Text 23"/>
          <p:cNvSpPr/>
          <p:nvPr/>
        </p:nvSpPr>
        <p:spPr>
          <a:xfrm>
            <a:off x="7882128" y="2898648"/>
            <a:ext cx="3566160" cy="530352"/>
          </a:xfrm>
          <a:prstGeom prst="rect">
            <a:avLst/>
          </a:prstGeom>
          <a:noFill/>
          <a:ln/>
        </p:spPr>
        <p:txBody>
          <a:bodyPr wrap="square" lIns="0" tIns="0" rIns="0" bIns="0" rtlCol="0" anchor="t"/>
          <a:lstStyle/>
          <a:p>
            <a:pPr marL="0" indent="0">
              <a:buNone/>
            </a:pPr>
            <a:r>
              <a:rPr lang="en-US" sz="1050" dirty="0">
                <a:solidFill>
                  <a:srgbClr val="CFDCEB"/>
                </a:solidFill>
                <a:latin typeface="Calibri" pitchFamily="34" charset="0"/>
                <a:ea typeface="Calibri" pitchFamily="34" charset="-122"/>
                <a:cs typeface="Calibri" pitchFamily="34" charset="-120"/>
              </a:rPr>
              <a:t>Design out one condition - usually by ordering resources. Simple, but utilisation drops.</a:t>
            </a:r>
            <a:endParaRPr lang="en-US" sz="1050" dirty="0"/>
          </a:p>
        </p:txBody>
      </p:sp>
      <p:sp>
        <p:nvSpPr>
          <p:cNvPr id="27" name="Shape 24"/>
          <p:cNvSpPr/>
          <p:nvPr/>
        </p:nvSpPr>
        <p:spPr>
          <a:xfrm>
            <a:off x="7452360" y="3456432"/>
            <a:ext cx="310896" cy="310896"/>
          </a:xfrm>
          <a:prstGeom prst="ellipse">
            <a:avLst/>
          </a:prstGeom>
          <a:solidFill>
            <a:srgbClr val="1C7293"/>
          </a:solidFill>
          <a:ln w="12700">
            <a:solidFill>
              <a:srgbClr val="1C7293"/>
            </a:solidFill>
            <a:prstDash val="solid"/>
          </a:ln>
        </p:spPr>
      </p:sp>
      <p:sp>
        <p:nvSpPr>
          <p:cNvPr id="28" name="Text 25"/>
          <p:cNvSpPr/>
          <p:nvPr/>
        </p:nvSpPr>
        <p:spPr>
          <a:xfrm>
            <a:off x="7452360" y="345643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9" name="Text 26"/>
          <p:cNvSpPr/>
          <p:nvPr/>
        </p:nvSpPr>
        <p:spPr>
          <a:xfrm>
            <a:off x="7882128" y="3392424"/>
            <a:ext cx="3566160" cy="256032"/>
          </a:xfrm>
          <a:prstGeom prst="rect">
            <a:avLst/>
          </a:prstGeom>
          <a:noFill/>
          <a:ln/>
        </p:spPr>
        <p:txBody>
          <a:bodyPr wrap="square" lIns="0" tIns="0" rIns="0" bIns="0"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Avoidance</a:t>
            </a:r>
            <a:endParaRPr lang="en-US" sz="1200" dirty="0"/>
          </a:p>
        </p:txBody>
      </p:sp>
      <p:sp>
        <p:nvSpPr>
          <p:cNvPr id="30" name="Text 27"/>
          <p:cNvSpPr/>
          <p:nvPr/>
        </p:nvSpPr>
        <p:spPr>
          <a:xfrm>
            <a:off x="7882128" y="3630168"/>
            <a:ext cx="3566160" cy="530352"/>
          </a:xfrm>
          <a:prstGeom prst="rect">
            <a:avLst/>
          </a:prstGeom>
          <a:noFill/>
          <a:ln/>
        </p:spPr>
        <p:txBody>
          <a:bodyPr wrap="square" lIns="0" tIns="0" rIns="0" bIns="0" rtlCol="0" anchor="t"/>
          <a:lstStyle/>
          <a:p>
            <a:pPr marL="0" indent="0">
              <a:buNone/>
            </a:pPr>
            <a:r>
              <a:rPr lang="en-US" sz="1050" dirty="0">
                <a:solidFill>
                  <a:srgbClr val="CFDCEB"/>
                </a:solidFill>
                <a:latin typeface="Calibri" pitchFamily="34" charset="0"/>
                <a:ea typeface="Calibri" pitchFamily="34" charset="-122"/>
                <a:cs typeface="Calibri" pitchFamily="34" charset="-120"/>
              </a:rPr>
              <a:t>Banker's algorithm grants a request only while a safe sequence still exists.</a:t>
            </a:r>
            <a:endParaRPr lang="en-US" sz="1050" dirty="0"/>
          </a:p>
        </p:txBody>
      </p:sp>
      <p:sp>
        <p:nvSpPr>
          <p:cNvPr id="31" name="Shape 28"/>
          <p:cNvSpPr/>
          <p:nvPr/>
        </p:nvSpPr>
        <p:spPr>
          <a:xfrm>
            <a:off x="7452360" y="4187952"/>
            <a:ext cx="310896" cy="310896"/>
          </a:xfrm>
          <a:prstGeom prst="ellipse">
            <a:avLst/>
          </a:prstGeom>
          <a:solidFill>
            <a:srgbClr val="1C7293"/>
          </a:solidFill>
          <a:ln w="12700">
            <a:solidFill>
              <a:srgbClr val="1C7293"/>
            </a:solidFill>
            <a:prstDash val="solid"/>
          </a:ln>
        </p:spPr>
      </p:sp>
      <p:sp>
        <p:nvSpPr>
          <p:cNvPr id="32" name="Text 29"/>
          <p:cNvSpPr/>
          <p:nvPr/>
        </p:nvSpPr>
        <p:spPr>
          <a:xfrm>
            <a:off x="7452360" y="418795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p:nvPr/>
        </p:nvSpPr>
        <p:spPr>
          <a:xfrm>
            <a:off x="7882128" y="4123944"/>
            <a:ext cx="3566160" cy="256032"/>
          </a:xfrm>
          <a:prstGeom prst="rect">
            <a:avLst/>
          </a:prstGeom>
          <a:noFill/>
          <a:ln/>
        </p:spPr>
        <p:txBody>
          <a:bodyPr wrap="square" lIns="0" tIns="0" rIns="0" bIns="0"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Detection</a:t>
            </a:r>
            <a:endParaRPr lang="en-US" sz="1200" dirty="0"/>
          </a:p>
        </p:txBody>
      </p:sp>
      <p:sp>
        <p:nvSpPr>
          <p:cNvPr id="34" name="Text 31"/>
          <p:cNvSpPr/>
          <p:nvPr/>
        </p:nvSpPr>
        <p:spPr>
          <a:xfrm>
            <a:off x="7882128" y="4361688"/>
            <a:ext cx="3566160" cy="530352"/>
          </a:xfrm>
          <a:prstGeom prst="rect">
            <a:avLst/>
          </a:prstGeom>
          <a:noFill/>
          <a:ln/>
        </p:spPr>
        <p:txBody>
          <a:bodyPr wrap="square" lIns="0" tIns="0" rIns="0" bIns="0" rtlCol="0" anchor="t"/>
          <a:lstStyle/>
          <a:p>
            <a:pPr marL="0" indent="0">
              <a:buNone/>
            </a:pPr>
            <a:r>
              <a:rPr lang="en-US" sz="1050" dirty="0">
                <a:solidFill>
                  <a:srgbClr val="CFDCEB"/>
                </a:solidFill>
                <a:latin typeface="Calibri" pitchFamily="34" charset="0"/>
                <a:ea typeface="Calibri" pitchFamily="34" charset="-122"/>
                <a:cs typeface="Calibri" pitchFamily="34" charset="-120"/>
              </a:rPr>
              <a:t>Look for a cycle in the wait-for graph, periodically or when utilisation falls.</a:t>
            </a:r>
            <a:endParaRPr lang="en-US" sz="1050" dirty="0"/>
          </a:p>
        </p:txBody>
      </p:sp>
      <p:sp>
        <p:nvSpPr>
          <p:cNvPr id="35" name="Shape 32"/>
          <p:cNvSpPr/>
          <p:nvPr/>
        </p:nvSpPr>
        <p:spPr>
          <a:xfrm>
            <a:off x="7452360" y="4919472"/>
            <a:ext cx="310896" cy="310896"/>
          </a:xfrm>
          <a:prstGeom prst="ellipse">
            <a:avLst/>
          </a:prstGeom>
          <a:solidFill>
            <a:srgbClr val="E8A33D"/>
          </a:solidFill>
          <a:ln w="12700">
            <a:solidFill>
              <a:srgbClr val="E8A33D"/>
            </a:solidFill>
            <a:prstDash val="solid"/>
          </a:ln>
        </p:spPr>
      </p:sp>
      <p:sp>
        <p:nvSpPr>
          <p:cNvPr id="36" name="Text 33"/>
          <p:cNvSpPr/>
          <p:nvPr/>
        </p:nvSpPr>
        <p:spPr>
          <a:xfrm>
            <a:off x="7452360" y="491947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7" name="Text 34"/>
          <p:cNvSpPr/>
          <p:nvPr/>
        </p:nvSpPr>
        <p:spPr>
          <a:xfrm>
            <a:off x="7882128" y="4855464"/>
            <a:ext cx="3566160" cy="256032"/>
          </a:xfrm>
          <a:prstGeom prst="rect">
            <a:avLst/>
          </a:prstGeom>
          <a:noFill/>
          <a:ln/>
        </p:spPr>
        <p:txBody>
          <a:bodyPr wrap="square" lIns="0" tIns="0" rIns="0" bIns="0"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Recovery</a:t>
            </a:r>
            <a:endParaRPr lang="en-US" sz="1200" dirty="0"/>
          </a:p>
        </p:txBody>
      </p:sp>
      <p:sp>
        <p:nvSpPr>
          <p:cNvPr id="38" name="Text 35"/>
          <p:cNvSpPr/>
          <p:nvPr/>
        </p:nvSpPr>
        <p:spPr>
          <a:xfrm>
            <a:off x="7882128" y="5093208"/>
            <a:ext cx="3566160" cy="530352"/>
          </a:xfrm>
          <a:prstGeom prst="rect">
            <a:avLst/>
          </a:prstGeom>
          <a:noFill/>
          <a:ln/>
        </p:spPr>
        <p:txBody>
          <a:bodyPr wrap="square" lIns="0" tIns="0" rIns="0" bIns="0" rtlCol="0" anchor="t"/>
          <a:lstStyle/>
          <a:p>
            <a:pPr marL="0" indent="0">
              <a:buNone/>
            </a:pPr>
            <a:r>
              <a:rPr lang="en-US" sz="1050" dirty="0">
                <a:solidFill>
                  <a:srgbClr val="CFDCEB"/>
                </a:solidFill>
                <a:latin typeface="Calibri" pitchFamily="34" charset="0"/>
                <a:ea typeface="Calibri" pitchFamily="34" charset="-122"/>
                <a:cs typeface="Calibri" pitchFamily="34" charset="-120"/>
              </a:rPr>
              <a:t>Terminate processes or preempt resources; choose the victim by least cost.</a:t>
            </a:r>
            <a:endParaRPr lang="en-US" sz="1050" dirty="0"/>
          </a:p>
        </p:txBody>
      </p:sp>
      <p:sp>
        <p:nvSpPr>
          <p:cNvPr id="39" name="Text 36"/>
          <p:cNvSpPr/>
          <p:nvPr/>
        </p:nvSpPr>
        <p:spPr>
          <a:xfrm>
            <a:off x="7360920" y="5532120"/>
            <a:ext cx="4206240" cy="274320"/>
          </a:xfrm>
          <a:prstGeom prst="rect">
            <a:avLst/>
          </a:prstGeom>
          <a:noFill/>
          <a:ln/>
        </p:spPr>
        <p:txBody>
          <a:bodyPr wrap="square" lIns="0" tIns="0" rIns="0" bIns="0" rtlCol="0" anchor="ctr"/>
          <a:lstStyle/>
          <a:p>
            <a:pPr marL="0" indent="0" algn="ctr">
              <a:buNone/>
            </a:pPr>
            <a:r>
              <a:rPr lang="en-US" sz="1050" i="1" dirty="0">
                <a:solidFill>
                  <a:srgbClr val="9AA4B8"/>
                </a:solidFill>
                <a:latin typeface="Calibri" pitchFamily="34" charset="0"/>
                <a:ea typeface="Calibri" pitchFamily="34" charset="-122"/>
                <a:cs typeface="Calibri" pitchFamily="34" charset="-120"/>
              </a:rPr>
              <a:t>“Prevent by design, avoid by decision, detect after the fact.”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2214</Words>
  <Application>Microsoft Office PowerPoint</Application>
  <PresentationFormat>Widescreen</PresentationFormat>
  <Paragraphs>195</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Ramesh R</cp:lastModifiedBy>
  <cp:revision>2</cp:revision>
  <dcterms:created xsi:type="dcterms:W3CDTF">2026-08-10T14:30:09Z</dcterms:created>
  <dcterms:modified xsi:type="dcterms:W3CDTF">2026-08-15T16:14:18Z</dcterms:modified>
</cp:coreProperties>
</file>